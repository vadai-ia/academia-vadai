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IA crea valor cuando resuelve un problema real de negocio. Todo lo demás es curiosidad.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 terminar: saben promptear, usan Claude a fondo para su empresa, evalúan y priorizan proyectos, y piensan con criterio antes de pedir.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se trata de esperar a que el cambio llegue, sino de diseñar el papel que queremos jugar en él. Este curso es el primer paso de ese diseño.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quien contesta en treinta segundos: quién soy, por qué estoy aquí, qué voy a hacer por ti y por qué me apasiona acompañarlos en esto.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desfase clave: la adopción crece más rápido que los resultados. Ese hueco es exactamente donde está la oportunidad de este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Estimación de DataReportal y OpenAI. Lo importante no es el decimal: casi nadie ha pasado al plan de pago, que es donde viven archivos, proyectos y memoria.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Porcentaje de la población en edad de trabajar que usó IA generativa en el primer trimestre de 2026. México subió 2.3 puntos en seis meses.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riesgo, también de Gartner: más del 40% de esos proyectos se cancelarán para 2027 por falta de objetivos claros. El mismo patrón de improvisación.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Stanford, con 4.6 millones de nóminas; PwC, con mil millones de anuncios de empleo. Y 39 de cada 100 habilidades actuales cambian para 2030, según el WEF.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busca castigar a nadie. Busca recordar que todos tienen una zona de mejora que todavía no han implementado. Esa zona es el punto de partida del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objetivo del curso es mover a cada participante al menos dos escalones hacia arriba. El colaborador que eficienta su área sube su valor dentro y fuera de la empresa.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Usa tu empresa como conejillo de indias. Todo lo que no está creciendo se está muriendo. Primero capturamos la idea; después la ordenamos.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IA permite rediseñar puestos completos, no solo hacer lo mismo más rápido. La empresa que trasciende no es la más grande: es la que genera más valor por persona.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basta con recibir capacitación. La devolución real a la empresa es una implementación útil, medible y sostenible. Un proyecto que funcione.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 idea sin nombre es difícil de vender, priorizar y ejecutar. El nombre es el primer acto de compromiso.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¿Cuántas veces los equipos no se ponen de acuerdo para elegir una idea? ¿Y cuánto cuesta eso?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MIT NANDA, 2025, más de 300 iniciativas. Y el 95% de las organizaciones que invirtieron no ve retorno medible. La razón no es la tecnología: es falta de método, de equipo preparado y de visión.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número no sustituye el criterio directivo: lo ordena, lo hace transparente y elimina el sesgo de quién grita más.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Impacto y retorno concentran el 55%. La facilidad no gana sola: debe sostenerse con valor real. Son los pesos de la hoja de decisión que se llevan en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de una aseguradora. Remarketing y prospección empatan: la decisión final revisa también el monto de inversión y las horas de programación. El número no decide solo; ordena la conversación.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buscamos muchas ideas. Buscamos las correctas para arrancar, ejecutar y demostrar retorno.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conversación correcta vale más que la fórmula perfecta. El consenso de criterio es el verdadero entregable de esta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minutos por empresa. Se toma nota de cada proyecto para la sesión siguiente.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curso inicia de verdad cuando la empresa ya sabe qué quiere transformar. Este es ese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Volvemos una y otra vez al proyecto que cada empresa eligió hoy. El objetivo final es avance tangible, no solo conocimiento.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 cuenta y sin proyecto no hay práctica real. Las dos son condición de entrada. Alejandro cierra con las instrucciones generales de la cuenta.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1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1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1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1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1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1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1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1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2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2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2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2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2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2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2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794250"/>
            <a:ext cx="63373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0">
                <a:solidFill>
                  <a:srgbClr val="F5F8FB"/>
                </a:solidFill>
                <a:latin typeface="Inter"/>
              </a:rPr>
              <a:t>Sesión 1 · Alineación · De la curiosidad a proyectos con nombre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2038350"/>
            <a:ext cx="63373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Antes de cualquier herramienta: qué te llevas tú.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9800" y="2540000"/>
            <a:ext cx="6667500" cy="3606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Detectar una oportunidad concreta de eficiencia, ventas o control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Convertir una idea dispersa en un proyecto evaluable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Pasar del uso improvisado a la implementación con criterio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133850"/>
            <a:ext cx="7620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Aquí lo hacemos al revés. Primero el problema, luego el método, y hasta el final la herramienta.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175000"/>
            <a:ext cx="9525000" cy="10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0">
                <a:solidFill>
                  <a:srgbClr val="F5F8FB"/>
                </a:solidFill>
                <a:latin typeface="Inter"/>
              </a:rPr>
              <a:t>La vida no consiste en encontrarte a ti mismo. Consiste en crearte a ti mismo.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4394200"/>
            <a:ext cx="7620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3A3B5"/>
                </a:solidFill>
                <a:latin typeface="Inter"/>
              </a:rPr>
              <a:t>— atribuida a George Bernard Shaw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1009650"/>
            <a:ext cx="63373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Quiénes somos y qué vamos a hacer por ti.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552950"/>
            <a:ext cx="7620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Los tres trabajamos con empresas reales todos los días, y sabemos dónde se atora.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2749550"/>
            <a:ext cx="63373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En las empresas, en las profesiones y en el mundo. Con datos verificados.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5568950"/>
            <a:ext cx="81915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de las organizaciones del mundo usa IA en al menos una función. Hace un año era 78%. Adoptar ya no es la diferencia.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972050"/>
            <a:ext cx="8191500" cy="1022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más barato en dos años. Lo que costaba 20 dólares hoy cuesta 7 centavos, por la misma cantidad de texto. La pregunta dejó de ser "¿puedo pagarlo?" y pasó a "¿dónde genera valor?".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552950"/>
            <a:ext cx="7620000" cy="1022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Usar la IA gratis es una herramienta de consulta. Usarla con suscripción y método es otra cosa: archivos, proyectos, memoria y agentes.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2038350"/>
            <a:ext cx="63373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Interés alto, captura de valor baja.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524250"/>
            <a:ext cx="7620000" cy="1022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La mayoría del uso es exploración individual, no implementación. Pasar de consumo a proyectos con retorno es el salto que este curso propone.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5149850"/>
            <a:ext cx="8191500" cy="1022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de las aplicaciones empresariales incluirán agentes de IA para finales de 2026, según Gartner. En 2025 era menos del 5%. Un agente planea, usa herramientas y termina la tarea.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9800" y="3473450"/>
            <a:ext cx="6667500" cy="267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Pregunta: recibe un objetivo claro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Plan: diseña los pasos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Herramientas: entra a sistemas y datos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Ejecución: completa el flujo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Supervisión: una persona valida y decide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1568450"/>
            <a:ext cx="63373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Los datos del empleo, sin exagerar ni minimizar.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5149850"/>
            <a:ext cx="8191500" cy="1022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empleos netos para 2030: 170 millones nuevos, 92 millones que desaparecen. El problema no es la cifra neta: quien pierde un puesto rara vez es quien ocupa el nuevo.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2038350"/>
            <a:ext cx="63373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Lo que no se diagnostica no se puede transformar.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098800"/>
            <a:ext cx="5410200" cy="1022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Contesta desde el celular. Nadie ve las respuestas individuales; vemos el mapa de la sala.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175000"/>
            <a:ext cx="9525000" cy="10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0">
                <a:solidFill>
                  <a:srgbClr val="F5F8FB"/>
                </a:solidFill>
                <a:latin typeface="Inter"/>
              </a:rPr>
              <a:t>Quien no mejora su área de trabajo, que le descuenten el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4394200"/>
            <a:ext cx="7620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3A3B5"/>
                </a:solidFill>
                <a:latin typeface="Inter"/>
              </a:rPr>
              <a:t>— Roberto Martínez Ortiz, Total Coach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098800"/>
            <a:ext cx="54102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Una frase. Sin filtro. Después la conectamos con lo que sí está pasando.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9800" y="2444750"/>
            <a:ext cx="6667500" cy="3702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Curiosidad: exploro qué es y para qué sirve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Uso gratuito: pruebas personales sin estructura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Uso de pago: archivos, proyectos y memoria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Proyectos: IA conectada a procesos reales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Retorno medible: impacto documentado y repetible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524250"/>
            <a:ext cx="5410200" cy="1339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Una capacidad concreta, no una aspiración vaga. "Automatizar el reporte semanal de ventas." "Presentar un proyecto con retorno estimado a dirección."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3600" y="38481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en cualquier área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44900" y="38481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las viejas suelen ser las valiosas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26200" y="38481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tiempo, aprobación, método, dinero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07500" y="38481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un proceso, una decisión, un control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1009650"/>
            <a:ext cx="63373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Cambió cómo se mide a un líder.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524250"/>
            <a:ext cx="7620000" cy="1022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Estás aquí porque tu empresa decidió prepararte para un futuro que ya llegó. Eso te pone en el equipo de poder. ¿Y tú, qué tanto estás invirtiendo en ti?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175000"/>
            <a:ext cx="9525000" cy="1079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0">
                <a:solidFill>
                  <a:srgbClr val="F5F8FB"/>
                </a:solidFill>
                <a:latin typeface="Inter"/>
              </a:rPr>
              <a:t>¿Qué vas a dar? ¿Qué vas a lograr antes de terminar este año?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4394200"/>
            <a:ext cx="76200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93A3B5"/>
                </a:solidFill>
                <a:latin typeface="Inter"/>
              </a:rPr>
              <a:t>— Roberto Martínez Ortiz, sobre las acciones de abundancia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3600" y="32004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la idea detallada que escribiste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44900" y="32004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a una frase con proceso, área y resultado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26200" y="32004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como un proyecto, no como un deseo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07500" y="32004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automatización de nómina, tablero de ventas, planeación de demanda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1009650"/>
            <a:ext cx="63373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Casi nunca es falta de ideas.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9800" y="3473450"/>
            <a:ext cx="6667500" cy="267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Aprobación: la idea no llega arriba bien presentada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Alineación: los equipos no ven el mismo problema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Venta: se presenta la solución antes que el problema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Presupuesto: nadie estimó inversión ni retorno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Método: no hubo un marco común para decidir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5149850"/>
            <a:ext cx="8191500" cy="1022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de las transformaciones fracasan por razones humanas: la gente se resiste o la dirección no respalda. La herramienta casi nunca es el problema.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552950"/>
            <a:ext cx="7620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Este curso existe para mover a tu empresa del 95% al 5%. Y eso empieza con cómo se decide qué proyecto entra primero.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1720850"/>
            <a:ext cx="63373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Que gane el proyecto con más valor, no quien habla más fuerte.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9800" y="3473450"/>
            <a:ext cx="6667500" cy="267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Criterios: los factores que importan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Pesos: cuánto importa cada uno, según la estrategia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Calificación: del 1 al 10, en consenso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Resultado: la suma ponderada de cada proyecto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Selección: los de mayor puntaje y viabilidad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552950"/>
            <a:ext cx="7620000" cy="698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072835"/>
                </a:solidFill>
                <a:latin typeface="Inter"/>
              </a:rPr>
              <a:t>Un proyecto por columna, un criterio por fila. La hoja hace la suma ponderada y devuelve una calificación comparable.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2038350"/>
            <a:ext cx="63373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De aquí salen los proyectos del curso.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9800" y="3473450"/>
            <a:ext cx="6667500" cy="267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Los de mayor impacto y mejor probabilidad de implementación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Que hoy puedan apoyarse en IA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Los demás no se pierden: van al backlog del siguiente ciclo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4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63600" y="38481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con los de su misma empresa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44900" y="38481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cada proyecto del 1 al 10 por criterio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26200" y="38481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el objetivo no es llenar celdas, es alinear criterio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07500" y="3848100"/>
            <a:ext cx="2120900" cy="10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4E6572"/>
                </a:solidFill>
                <a:latin typeface="Inter"/>
              </a:rPr>
              <a:t>dos proyectos y quién los presenta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9800" y="3473450"/>
            <a:ext cx="6667500" cy="267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No el de mayor jerarquía: el mejor comunicador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Qué problema resuelve el proyecto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Qué impacto se espera y por qué la IA es la herramienta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Cuál es el primer paso concreto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El equipo confirma que está alineado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4095750"/>
            <a:ext cx="63373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Ocho sesiones, siempre de regreso a tu proyecto.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39800" y="3473450"/>
            <a:ext cx="6667500" cy="2673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Aprende a usar Claude: botón por botón, y cómo hablarle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Excel, Word, PowerPoint y correo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Tableros y reportes que se comparten con un enlace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Finanzas, Operaciones, Ventas y las demás áreas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072835"/>
                </a:solidFill>
                <a:latin typeface="Inter"/>
              </a:rPr>
              <a:t>Alineación del equipo: reglas, plan y hábitos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5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9600" y="3194050"/>
            <a:ext cx="7620000" cy="1022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5F8FB"/>
                </a:solidFill>
                <a:latin typeface="Inter"/>
              </a:rPr>
              <a:t>La diferencia no es la tecnología, ni el presupuesto, ni el tamaño. Es método, criterio, alineación y voluntad de ejecutar. Todo eso empieza hoy.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5410200"/>
            <a:ext cx="3556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5F8FB"/>
                </a:solidFill>
                <a:latin typeface="Inter"/>
              </a:rPr>
              <a:t>los dos proyectos de tu empresa, con nombre y dueño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18000" y="5410200"/>
            <a:ext cx="3556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5F8FB"/>
                </a:solidFill>
                <a:latin typeface="Inter"/>
              </a:rPr>
              <a:t>la hoja de decisión llena y guardada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26400" y="5410200"/>
            <a:ext cx="3556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5F8FB"/>
                </a:solidFill>
                <a:latin typeface="Inter"/>
              </a:rPr>
              <a:t>cuenta activa y archivos listos antes de la sesión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