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91" r:id="rId4"/>
    <p:sldId id="258" r:id="rId5"/>
    <p:sldId id="259" r:id="rId6"/>
    <p:sldId id="260" r:id="rId7"/>
    <p:sldId id="262" r:id="rId8"/>
    <p:sldId id="263" r:id="rId9"/>
    <p:sldId id="261" r:id="rId10"/>
    <p:sldId id="264" r:id="rId11"/>
    <p:sldId id="265" r:id="rId12"/>
    <p:sldId id="267" r:id="rId13"/>
    <p:sldId id="268" r:id="rId14"/>
    <p:sldId id="269" r:id="rId15"/>
    <p:sldId id="270" r:id="rId16"/>
    <p:sldId id="292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7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741" autoAdjust="0"/>
  </p:normalViewPr>
  <p:slideViewPr>
    <p:cSldViewPr snapToGrid="0" snapToObjects="1">
      <p:cViewPr varScale="1">
        <p:scale>
          <a:sx n="45" d="100"/>
          <a:sy n="45" d="100"/>
        </p:scale>
        <p:origin x="924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89F2E-8888-4E3E-971F-EDA368EF51AE}" type="datetimeFigureOut">
              <a:rPr lang="es-MX" smtClean="0"/>
              <a:t>21/09/2026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2FE87-CF6E-4646-9F38-AB80D9FA8D1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9211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IA crea valor cuando resuelve un problema real de negocio. Todo lo demás es curiosidad.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1C5E3-D04E-8E74-BAC4-BF84E7AC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245F6-2371-BFAE-AF1F-C04F7C6B28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27EFA0-CC7D-ADFC-5D80-B6876DA5D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se trata de esperar a que el cambio llegue, sino de diseñar el papel que queremos jugar en él. Este curso es el primer paso de ese diseño.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ED25C-DC66-AD44-C9D7-813FEFF4C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68095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error más común es comprar tecnología antes de definir el problema. Aquí lo hacemos al revés. Al terminar: saben promptear, usan Claude a fondo, evalúan y priorizan proyectos, y piensan con criterio.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/>
              <a:t>¿Qué papel quieres jugar, quien eres en tu yo del futuro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Venimos a compartir método, no humo tecnológico. Cada quien contesta las cuatro en un minuto.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Estimación de DataReportal y OpenAI. Lo empresarial vive en el plan de pago: archivos, proyectos, memoria y agentes. Ustedes ya están en ese 1%.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desfase clave: la adopción crece más rápido que los resultados. Ese hueco es la oportunidad. Hace un año el primer dato era 78%.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 que no se diagnostica no se puede transformar. La encuesta se proyecta en vivo desde la academia.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busca castigar a nadie. Busca recordar que todos tienen una zona de mejora que todavía no han implementado. Esa zona es el punto de partida.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objetivo del curso es mover a cada participante al menos dos escalones hacia arriba. El colaborador que eficienta su área sube su valor dentro y fuera de la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Usa tu empresa como conejillo de indias. Todo lo que no está creciendo se está muriendo. Primero capturamos la idea; después la ordenamos.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IA permite rediseñar puestos completos, no solo hacer lo mismo más rápido. La empresa que trasciende no es la más grande: es la que genera más valor por persona.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basta con recibir capacitación. La devolución real a la empresa es una implementación útil, medible y sostenible.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Una idea sin nombre es difícil de vender, priorizar y ejecutar. El nombre es el primer acto de compromiso.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MX" dirty="0"/>
              <a:t>1.- LA IDEA NO LLEGA AL NIVEL CORRECTO CON EL FORMATO CORRECTO</a:t>
            </a:r>
          </a:p>
          <a:p>
            <a:r>
              <a:rPr lang="es-MX" dirty="0"/>
              <a:t>2.- Los equipos involucrados no comparten la misma visión, o no le ponen el mismo empeño, o no tienen el </a:t>
            </a:r>
            <a:r>
              <a:rPr lang="es-MX" dirty="0" err="1"/>
              <a:t>midset</a:t>
            </a:r>
            <a:r>
              <a:rPr lang="es-MX" dirty="0"/>
              <a:t> de ejecución</a:t>
            </a:r>
          </a:p>
          <a:p>
            <a:r>
              <a:rPr lang="es-MX" dirty="0"/>
              <a:t>3.- La idea no va </a:t>
            </a:r>
            <a:r>
              <a:rPr lang="es-MX" dirty="0" err="1"/>
              <a:t>argmuentada</a:t>
            </a:r>
            <a:r>
              <a:rPr lang="es-MX" dirty="0"/>
              <a:t>, no la supe expresar o no logre que me escucharan</a:t>
            </a:r>
          </a:p>
          <a:p>
            <a:r>
              <a:rPr lang="es-MX" dirty="0"/>
              <a:t>4.- No se estimó la inversión, retorno ni </a:t>
            </a:r>
            <a:r>
              <a:rPr lang="es-MX" dirty="0" err="1"/>
              <a:t>comparativaentre</a:t>
            </a:r>
            <a:r>
              <a:rPr lang="es-MX" dirty="0"/>
              <a:t> alternativas</a:t>
            </a:r>
          </a:p>
          <a:p>
            <a:r>
              <a:rPr lang="es-MX" dirty="0"/>
              <a:t>5.- No existió un marco comparativo para evaluar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E2FE87-CF6E-4646-9F38-AB80D9FA8D12}" type="slidenum">
              <a:rPr lang="es-MX" smtClean="0"/>
              <a:t>24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706019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Evaluar proyectos de forma subjetiva hace ganar a quien habla más fuerte. El número no sustituye el criterio: lo ordena y lo hace transparente.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Impacto y retorno concentran el 55%. La facilidad no gana sola: debe sostenerse con valor real. Son los pesos de la hoja de Excel que se llevan.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 abre el Excel real en pantalla compartida. Cada empresa se lleva el archivo.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Remarketing y prospección empatan. La decisión final revisa también inversión, horas de programación, capacidad del equipo y urgencia. El número ordena; no decide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1B624-5351-5FFD-863B-9C2BC9CC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A0BEA-63D6-EF2B-4975-32AF455FC5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F27711-0DE0-23B6-5CA1-FCF20768E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basta con recibir capacitación. La devolución real a la empresa es una implementación útil, medible y sostenible.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D7484-1C1C-AE00-7562-927605CC5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160011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 buscamos muchas ideas. Buscamos las correctas para arrancar, ejecutar y demostrar retorno.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conversación correcta vale más que la fórmula perfecta. El consenso de criterio es el verdadero entregable de esta sesión.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Tres minutos por empresa. El equipo completo confirma que está alineado y listo para trabajarlo durante 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curso inicia de verdad cuando la empresa ya sabe qué quiere transformar. Este es ese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Volvemos una y otra vez al proyecto que cada empresa eligió hoy. El objetivo final es avance tangible, no solo conocimiento.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Sin cuenta y sin proyecto no hay práctica real. Las dos son condición de entrada. Alejandro cierra con las instrucciones generales.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413250"/>
            <a:ext cx="63373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MX" sz="2000" dirty="0">
                <a:solidFill>
                  <a:srgbClr val="F5F8FB"/>
                </a:solidFill>
                <a:latin typeface="Inter"/>
              </a:rPr>
              <a:t>-BIENVENIDOS -  SESIÓN  DE ALINEACIÓN</a:t>
            </a:r>
            <a:endParaRPr sz="2000" b="0" dirty="0">
              <a:solidFill>
                <a:srgbClr val="F5F8FB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1189608"/>
            <a:ext cx="6610350" cy="22393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8050"/>
              </a:lnSpc>
            </a:pPr>
            <a:r>
              <a:rPr lang="es-MX" sz="8800" b="0" spc="-50" dirty="0">
                <a:solidFill>
                  <a:srgbClr val="FFB489"/>
                </a:solidFill>
                <a:latin typeface="Anton"/>
              </a:rPr>
              <a:t>“</a:t>
            </a:r>
            <a:r>
              <a:rPr sz="8800" b="0" spc="-50" dirty="0">
                <a:solidFill>
                  <a:srgbClr val="FFB489"/>
                </a:solidFill>
                <a:latin typeface="Anton"/>
              </a:rPr>
              <a:t>CLAUDE</a:t>
            </a:r>
            <a:r>
              <a:rPr sz="8800" b="0" spc="-50" dirty="0">
                <a:solidFill>
                  <a:srgbClr val="FFFFFF"/>
                </a:solidFill>
                <a:latin typeface="Anton"/>
              </a:rPr>
              <a:t> EN TU</a:t>
            </a:r>
            <a:br>
              <a:rPr dirty="0"/>
            </a:br>
            <a:r>
              <a:rPr sz="8800" b="0" spc="-50" dirty="0">
                <a:solidFill>
                  <a:srgbClr val="FFFFFF"/>
                </a:solidFill>
                <a:latin typeface="Anton"/>
              </a:rPr>
              <a:t>EMPRESA</a:t>
            </a:r>
            <a:r>
              <a:rPr lang="es-MX" sz="8800" b="0" spc="-50" dirty="0">
                <a:solidFill>
                  <a:srgbClr val="FFFFFF"/>
                </a:solidFill>
                <a:latin typeface="Anton"/>
              </a:rPr>
              <a:t>"</a:t>
            </a:r>
            <a:endParaRPr sz="8800" b="0" spc="-50" dirty="0">
              <a:solidFill>
                <a:srgbClr val="FFFFFF"/>
              </a:solidFill>
              <a:latin typeface="Anto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7155" y="4765750"/>
            <a:ext cx="5156200" cy="10612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lang="es-MX" dirty="0">
                <a:solidFill>
                  <a:srgbClr val="072835"/>
                </a:solidFill>
                <a:latin typeface="Inter"/>
              </a:rPr>
              <a:t>A generar e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ficiencia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,</a:t>
            </a:r>
            <a:endParaRPr lang="es-MX"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crear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control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es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A pasar d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una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idea </a:t>
            </a:r>
            <a:r>
              <a:rPr lang="es-MX" dirty="0">
                <a:solidFill>
                  <a:srgbClr val="072835"/>
                </a:solidFill>
                <a:latin typeface="Inter"/>
              </a:rPr>
              <a:t>general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a un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proyecto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aterrizado</a:t>
            </a:r>
            <a:endParaRPr sz="18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599" y="406400"/>
            <a:ext cx="3312543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lang="es-MX" sz="1600" b="1" dirty="0">
                <a:solidFill>
                  <a:srgbClr val="006E96"/>
                </a:solidFill>
                <a:latin typeface="Inter"/>
              </a:rPr>
              <a:t>¿A qué vienes hoy?</a:t>
            </a:r>
            <a:endParaRPr sz="1600" b="1" dirty="0">
              <a:solidFill>
                <a:srgbClr val="006E96"/>
              </a:solidFill>
              <a:latin typeface="Inte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1336" y="3145885"/>
            <a:ext cx="7053185" cy="905522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2752" y="1561639"/>
            <a:ext cx="7128529" cy="123332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4400"/>
              </a:lnSpc>
            </a:pPr>
            <a:r>
              <a:rPr lang="es-MX" sz="4800" b="0" dirty="0">
                <a:solidFill>
                  <a:srgbClr val="0A1A2F"/>
                </a:solidFill>
                <a:latin typeface="Anton"/>
              </a:rPr>
              <a:t>¿APRENDER</a:t>
            </a:r>
            <a:r>
              <a:rPr sz="4800" b="0" dirty="0">
                <a:solidFill>
                  <a:srgbClr val="0A1A2F"/>
                </a:solidFill>
                <a:latin typeface="Anton"/>
              </a:rPr>
              <a:t> UNA</a:t>
            </a:r>
            <a:r>
              <a:rPr lang="es-MX" sz="4800" b="0" dirty="0">
                <a:solidFill>
                  <a:srgbClr val="0A1A2F"/>
                </a:solidFill>
                <a:latin typeface="Anton"/>
              </a:rPr>
              <a:t> </a:t>
            </a:r>
            <a:r>
              <a:rPr sz="4800" b="0" dirty="0">
                <a:solidFill>
                  <a:srgbClr val="0A1A2F"/>
                </a:solidFill>
                <a:latin typeface="Anton"/>
              </a:rPr>
              <a:t>HERRAMIENTA</a:t>
            </a:r>
            <a:r>
              <a:rPr lang="es-MX" sz="4800" b="0" dirty="0">
                <a:solidFill>
                  <a:srgbClr val="0A1A2F"/>
                </a:solidFill>
                <a:latin typeface="Anton"/>
              </a:rPr>
              <a:t>?</a:t>
            </a:r>
          </a:p>
          <a:p>
            <a:pPr algn="l">
              <a:lnSpc>
                <a:spcPts val="4400"/>
              </a:lnSpc>
            </a:pPr>
            <a:endParaRPr lang="es-MX" sz="4800" dirty="0">
              <a:solidFill>
                <a:srgbClr val="0A1A2F"/>
              </a:solidFill>
              <a:latin typeface="Anton"/>
            </a:endParaRPr>
          </a:p>
          <a:p>
            <a:pPr algn="ctr">
              <a:lnSpc>
                <a:spcPts val="4400"/>
              </a:lnSpc>
            </a:pPr>
            <a:r>
              <a:rPr lang="es-MX" sz="4800" dirty="0" err="1">
                <a:solidFill>
                  <a:srgbClr val="0A1A2F"/>
                </a:solidFill>
                <a:latin typeface="Anton"/>
              </a:rPr>
              <a:t>Ó</a:t>
            </a:r>
            <a:endParaRPr lang="es-MX" sz="4800" dirty="0">
              <a:solidFill>
                <a:srgbClr val="0A1A2F"/>
              </a:solidFill>
              <a:latin typeface="Anto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2FC6BCFE-533E-9BBD-C507-809185E0DA35}"/>
              </a:ext>
            </a:extLst>
          </p:cNvPr>
          <p:cNvSpPr txBox="1"/>
          <p:nvPr/>
        </p:nvSpPr>
        <p:spPr>
          <a:xfrm>
            <a:off x="987005" y="3427961"/>
            <a:ext cx="6397206" cy="626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400"/>
              </a:lnSpc>
            </a:pPr>
            <a:r>
              <a:rPr lang="es-MX" sz="4800" dirty="0">
                <a:solidFill>
                  <a:srgbClr val="0A1A2F"/>
                </a:solidFill>
                <a:latin typeface="Anton"/>
              </a:rPr>
              <a:t>¿CONSTRUIR </a:t>
            </a:r>
            <a:r>
              <a:rPr sz="4800" b="0" dirty="0">
                <a:solidFill>
                  <a:srgbClr val="0A1A2F"/>
                </a:solidFill>
                <a:latin typeface="Anton"/>
              </a:rPr>
              <a:t>UN PROYECTO</a:t>
            </a:r>
            <a:r>
              <a:rPr lang="es-MX" sz="4800" b="0" dirty="0">
                <a:solidFill>
                  <a:srgbClr val="0A1A2F"/>
                </a:solidFill>
                <a:latin typeface="Anton"/>
              </a:rPr>
              <a:t>?</a:t>
            </a:r>
            <a:endParaRPr sz="4800" b="0" dirty="0">
              <a:solidFill>
                <a:srgbClr val="0A1A2F"/>
              </a:solidFill>
              <a:latin typeface="Anto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66A4-CBC7-E60F-9BE7-F60636E90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.jpg">
            <a:extLst>
              <a:ext uri="{FF2B5EF4-FFF2-40B4-BE49-F238E27FC236}">
                <a16:creationId xmlns:a16="http://schemas.microsoft.com/office/drawing/2014/main" id="{EB75A00A-3C4E-0477-9BE5-510D9E243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BADFD0-7822-1CC4-0630-1E1E2DB1E43F}"/>
              </a:ext>
            </a:extLst>
          </p:cNvPr>
          <p:cNvSpPr txBox="1"/>
          <p:nvPr/>
        </p:nvSpPr>
        <p:spPr>
          <a:xfrm>
            <a:off x="600722" y="3174999"/>
            <a:ext cx="11171068" cy="13082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MX" sz="3200" b="0" dirty="0">
                <a:solidFill>
                  <a:srgbClr val="F5F8FB"/>
                </a:solidFill>
                <a:latin typeface="Inter"/>
              </a:rPr>
              <a:t>¿Qué ENTIENDES POR LA PALABRA                </a:t>
            </a:r>
            <a:r>
              <a:rPr lang="es-MX" sz="4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Inter"/>
              </a:rPr>
              <a:t>“ALINEARNOS”?           </a:t>
            </a:r>
            <a:endParaRPr sz="9600" b="1" dirty="0">
              <a:solidFill>
                <a:schemeClr val="accent6">
                  <a:lumMod val="60000"/>
                  <a:lumOff val="40000"/>
                </a:schemeClr>
              </a:solidFill>
              <a:latin typeface="Inter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B752343-BBD0-BCB2-670F-5A8522D563C0}"/>
              </a:ext>
            </a:extLst>
          </p:cNvPr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0E02C41-C2EA-4A75-2301-8BBAA1BADD85}"/>
              </a:ext>
            </a:extLst>
          </p:cNvPr>
          <p:cNvSpPr/>
          <p:nvPr/>
        </p:nvSpPr>
        <p:spPr>
          <a:xfrm>
            <a:off x="609600" y="406400"/>
            <a:ext cx="2247900" cy="311150"/>
          </a:xfrm>
          <a:prstGeom prst="roundRect">
            <a:avLst>
              <a:gd name="adj" fmla="val 50000"/>
            </a:avLst>
          </a:prstGeom>
          <a:solidFill>
            <a:srgbClr val="22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lang="es-MX" sz="1200" b="0" dirty="0">
                <a:solidFill>
                  <a:srgbClr val="FFFFFF"/>
                </a:solidFill>
                <a:latin typeface="Inter"/>
              </a:rPr>
              <a:t>ALINEACIÓN</a:t>
            </a:r>
            <a:endParaRPr sz="1200" b="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9EB89-7940-9D7E-384D-E4BC2B2CB1BE}"/>
              </a:ext>
            </a:extLst>
          </p:cNvPr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29600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98750"/>
            <a:ext cx="18097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1" dirty="0">
                <a:solidFill>
                  <a:srgbClr val="0A1A2F"/>
                </a:solidFill>
                <a:latin typeface="Inter"/>
              </a:rPr>
              <a:t>Crear </a:t>
            </a:r>
            <a:r>
              <a:rPr sz="1600" b="1" dirty="0">
                <a:solidFill>
                  <a:srgbClr val="0A1A2F"/>
                </a:solidFill>
                <a:latin typeface="Inter"/>
              </a:rPr>
              <a:t>Idea</a:t>
            </a:r>
            <a:r>
              <a:rPr lang="es-MX" sz="1600" b="1" dirty="0">
                <a:solidFill>
                  <a:srgbClr val="0A1A2F"/>
                </a:solidFill>
                <a:latin typeface="Inter"/>
              </a:rPr>
              <a:t>s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27350" y="2698750"/>
            <a:ext cx="83502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identificar la oportunidad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49600"/>
            <a:ext cx="18097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1" dirty="0">
                <a:solidFill>
                  <a:srgbClr val="0A1A2F"/>
                </a:solidFill>
                <a:latin typeface="Inter"/>
              </a:rPr>
              <a:t>Evaluación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27350" y="3149600"/>
            <a:ext cx="83502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0" noProof="0" dirty="0">
                <a:solidFill>
                  <a:srgbClr val="072835"/>
                </a:solidFill>
                <a:latin typeface="Inter"/>
              </a:rPr>
              <a:t>Estructura</a:t>
            </a:r>
            <a:r>
              <a:rPr lang="es-MX" sz="1600" noProof="0" dirty="0">
                <a:solidFill>
                  <a:srgbClr val="072835"/>
                </a:solidFill>
                <a:latin typeface="Inter"/>
              </a:rPr>
              <a:t>,</a:t>
            </a:r>
            <a:r>
              <a:rPr lang="es-MX" sz="1600" b="0" noProof="0" dirty="0">
                <a:solidFill>
                  <a:srgbClr val="072835"/>
                </a:solidFill>
                <a:latin typeface="Inter"/>
              </a:rPr>
              <a:t> criterio, Impacto, viabilidad para evaluar los proyectos a implementar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00450"/>
            <a:ext cx="18097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1" dirty="0">
                <a:solidFill>
                  <a:srgbClr val="0A1A2F"/>
                </a:solidFill>
                <a:latin typeface="Inter"/>
              </a:rPr>
              <a:t>Método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27350" y="3600450"/>
            <a:ext cx="83502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0" dirty="0">
                <a:solidFill>
                  <a:srgbClr val="072835"/>
                </a:solidFill>
                <a:latin typeface="Inter"/>
              </a:rPr>
              <a:t>Dominar la ingeniería del </a:t>
            </a:r>
            <a:r>
              <a:rPr lang="es-MX" sz="1600" b="0" dirty="0" err="1">
                <a:solidFill>
                  <a:srgbClr val="072835"/>
                </a:solidFill>
                <a:latin typeface="Inter"/>
              </a:rPr>
              <a:t>Prompting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4051300"/>
            <a:ext cx="18097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1" dirty="0">
                <a:solidFill>
                  <a:srgbClr val="0A1A2F"/>
                </a:solidFill>
                <a:latin typeface="Inter"/>
              </a:rPr>
              <a:t>Herramienta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7350" y="4051300"/>
            <a:ext cx="83502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dirty="0">
                <a:solidFill>
                  <a:srgbClr val="072835"/>
                </a:solidFill>
                <a:latin typeface="Inter"/>
              </a:rPr>
              <a:t>Conocer y Utilizar Claude al 100%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" y="4502150"/>
            <a:ext cx="18097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1" dirty="0">
                <a:solidFill>
                  <a:srgbClr val="0A1A2F"/>
                </a:solidFill>
                <a:latin typeface="Inter"/>
              </a:rPr>
              <a:t>Pensamiento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27350" y="4502150"/>
            <a:ext cx="83502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0" dirty="0">
                <a:solidFill>
                  <a:srgbClr val="072835"/>
                </a:solidFill>
                <a:latin typeface="Inter"/>
              </a:rPr>
              <a:t>Estructurar tu mente con pensamiento crítico para la resolución de problemas y tareas con IA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9599" y="292100"/>
            <a:ext cx="3797300" cy="4254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lang="es-MX" sz="1200" dirty="0">
                <a:solidFill>
                  <a:srgbClr val="006E96"/>
                </a:solidFill>
                <a:latin typeface="Inter"/>
              </a:rPr>
              <a:t>SESIÓN DE ALINEACIÓN ·</a:t>
            </a:r>
            <a:r>
              <a:rPr sz="1200" b="0" dirty="0">
                <a:solidFill>
                  <a:srgbClr val="006E96"/>
                </a:solidFill>
                <a:latin typeface="Inter"/>
              </a:rPr>
              <a:t> Promesa de valor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9900" y="1085850"/>
            <a:ext cx="417195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9600" y="1327150"/>
            <a:ext cx="11341100" cy="1028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8800" b="0" spc="-50" dirty="0">
                <a:solidFill>
                  <a:srgbClr val="0A1A2F"/>
                </a:solidFill>
                <a:latin typeface="Anton"/>
              </a:rPr>
              <a:t>LA PROMESA DEL CURSO.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332A0C7E-9EE8-E2EE-6AD8-516945949128}"/>
              </a:ext>
            </a:extLst>
          </p:cNvPr>
          <p:cNvSpPr/>
          <p:nvPr/>
        </p:nvSpPr>
        <p:spPr>
          <a:xfrm>
            <a:off x="1644770" y="3740256"/>
            <a:ext cx="7053185" cy="405615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3175000"/>
            <a:ext cx="9525000" cy="1079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3200" b="0" dirty="0">
                <a:solidFill>
                  <a:srgbClr val="F5F8FB"/>
                </a:solidFill>
                <a:latin typeface="Inter"/>
              </a:rPr>
              <a:t>La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vida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no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consiste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en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encontrarte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a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ti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. </a:t>
            </a:r>
            <a:endParaRPr lang="es-MX" sz="3200" b="0" dirty="0">
              <a:solidFill>
                <a:srgbClr val="F5F8FB"/>
              </a:solidFill>
              <a:latin typeface="Inter"/>
            </a:endParaRPr>
          </a:p>
          <a:p>
            <a:pPr algn="ctr"/>
            <a:r>
              <a:rPr sz="3200" b="0" dirty="0" err="1">
                <a:solidFill>
                  <a:srgbClr val="0A1728"/>
                </a:solidFill>
                <a:latin typeface="Inter"/>
              </a:rPr>
              <a:t>Consiste</a:t>
            </a:r>
            <a:r>
              <a:rPr sz="3200" b="0" dirty="0">
                <a:solidFill>
                  <a:srgbClr val="0A1728"/>
                </a:solidFill>
                <a:latin typeface="Inter"/>
              </a:rPr>
              <a:t> </a:t>
            </a:r>
            <a:r>
              <a:rPr sz="3200" b="0" dirty="0" err="1">
                <a:solidFill>
                  <a:srgbClr val="0A1728"/>
                </a:solidFill>
                <a:latin typeface="Inter"/>
              </a:rPr>
              <a:t>en</a:t>
            </a:r>
            <a:r>
              <a:rPr sz="3200" b="0" dirty="0">
                <a:solidFill>
                  <a:srgbClr val="0A1728"/>
                </a:solidFill>
                <a:latin typeface="Inter"/>
              </a:rPr>
              <a:t> </a:t>
            </a:r>
            <a:r>
              <a:rPr sz="3200" b="0" dirty="0" err="1">
                <a:solidFill>
                  <a:srgbClr val="0A1728"/>
                </a:solidFill>
                <a:latin typeface="Inter"/>
              </a:rPr>
              <a:t>crearte</a:t>
            </a:r>
            <a:r>
              <a:rPr sz="3200" b="0" dirty="0">
                <a:solidFill>
                  <a:srgbClr val="0A1728"/>
                </a:solidFill>
                <a:latin typeface="Inter"/>
              </a:rPr>
              <a:t> a </a:t>
            </a:r>
            <a:r>
              <a:rPr sz="3200" b="0" dirty="0" err="1">
                <a:solidFill>
                  <a:srgbClr val="0A1728"/>
                </a:solidFill>
                <a:latin typeface="Inter"/>
              </a:rPr>
              <a:t>ti</a:t>
            </a:r>
            <a:r>
              <a:rPr sz="3200" b="0" dirty="0">
                <a:solidFill>
                  <a:srgbClr val="0A1728"/>
                </a:solidFill>
                <a:latin typeface="Inter"/>
              </a:rPr>
              <a:t> </a:t>
            </a:r>
            <a:r>
              <a:rPr sz="3200" b="0" dirty="0" err="1">
                <a:solidFill>
                  <a:srgbClr val="0A1728"/>
                </a:solidFill>
                <a:latin typeface="Inter"/>
              </a:rPr>
              <a:t>mismo</a:t>
            </a:r>
            <a:r>
              <a:rPr sz="3200" b="0" dirty="0">
                <a:solidFill>
                  <a:srgbClr val="0A1728"/>
                </a:solidFill>
                <a:latin typeface="Inte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5751" y="5681462"/>
            <a:ext cx="7620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s-MX" sz="2000" b="0" dirty="0">
                <a:solidFill>
                  <a:srgbClr val="93A3B5"/>
                </a:solidFill>
                <a:latin typeface="Inter"/>
              </a:rPr>
              <a:t>¿</a:t>
            </a:r>
            <a:r>
              <a:rPr lang="es-MX" sz="2000" dirty="0">
                <a:solidFill>
                  <a:srgbClr val="93A3B5"/>
                </a:solidFill>
                <a:latin typeface="Inter"/>
              </a:rPr>
              <a:t>Quién quieres ser en el futuro?</a:t>
            </a:r>
            <a:endParaRPr lang="es-MX" sz="1400" b="0" dirty="0">
              <a:solidFill>
                <a:srgbClr val="93A3B5"/>
              </a:solidFill>
              <a:latin typeface="Inte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6400"/>
            <a:ext cx="2247900" cy="311150"/>
          </a:xfrm>
          <a:prstGeom prst="roundRect">
            <a:avLst>
              <a:gd name="adj" fmla="val 50000"/>
            </a:avLst>
          </a:prstGeom>
          <a:solidFill>
            <a:srgbClr val="22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lang="es-MX" sz="1200" b="0" dirty="0">
                <a:solidFill>
                  <a:srgbClr val="FFFFFF"/>
                </a:solidFill>
                <a:latin typeface="Inter"/>
              </a:rPr>
              <a:t>Evoluciona tu profesión</a:t>
            </a:r>
            <a:endParaRPr sz="2000" b="0" dirty="0">
              <a:solidFill>
                <a:srgbClr val="FFFFFF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6400"/>
            <a:ext cx="21717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Etapa 2 · Presentación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7350" y="1092200"/>
            <a:ext cx="4165600" cy="8255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9600" y="1276350"/>
            <a:ext cx="10972800" cy="1308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250"/>
              </a:lnSpc>
            </a:pPr>
            <a:r>
              <a:rPr sz="6800" b="0">
                <a:solidFill>
                  <a:srgbClr val="0A1A2F"/>
                </a:solidFill>
                <a:latin typeface="Anton"/>
              </a:rPr>
              <a:t>QUIÉNES TE ACOMPAÑAN.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2540000"/>
            <a:ext cx="3505200" cy="3683000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200" y="281305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2000" b="0">
                <a:solidFill>
                  <a:srgbClr val="0A1A2F"/>
                </a:solidFill>
                <a:latin typeface="Anton"/>
              </a:rPr>
              <a:t>ROBERTO MARTÍNEZ ORTIZ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00" y="3175000"/>
            <a:ext cx="1308100" cy="27940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/>
          <a:lstStyle/>
          <a:p>
            <a:r>
              <a:rPr sz="1000" b="1" spc="60">
                <a:solidFill>
                  <a:srgbClr val="006E96"/>
                </a:solidFill>
                <a:latin typeface="Inter"/>
              </a:rPr>
              <a:t>TOTAL COACH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632200"/>
            <a:ext cx="3048000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E6572"/>
                </a:solidFill>
                <a:latin typeface="Inter"/>
              </a:rPr>
              <a:t>Más de 15 años como director general en multinacionales. Hoy consejero y coach empresarial, especialista en disrumpir empresas y preparar a sus líderes para el mundo que viene.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921250"/>
            <a:ext cx="3048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72835"/>
                </a:solidFill>
                <a:latin typeface="Inter"/>
              </a:rPr>
              <a:t>“Líder que no mejora o cambia algo en su área de trabajo, que le descuenten el día.”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540000"/>
            <a:ext cx="3505200" cy="3683000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281305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2000" b="0">
                <a:solidFill>
                  <a:srgbClr val="0A1A2F"/>
                </a:solidFill>
                <a:latin typeface="Anton"/>
              </a:rPr>
              <a:t>ROBERTO MARTÍNEZ LICÓN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175000"/>
            <a:ext cx="1428750" cy="27940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/>
          <a:lstStyle/>
          <a:p>
            <a:r>
              <a:rPr sz="1000" b="1" spc="60">
                <a:solidFill>
                  <a:srgbClr val="006E96"/>
                </a:solidFill>
                <a:latin typeface="Inter"/>
              </a:rPr>
              <a:t>VADAI AGENCIA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632200"/>
            <a:ext cx="3048000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E6572"/>
                </a:solidFill>
                <a:latin typeface="Inter"/>
              </a:rPr>
              <a:t>Socio fundador y director comercial de VADAI Agencia. Experto en marketing digital e inteligencia artificial; hoy consultor en ejecución de proyectos de 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21250"/>
            <a:ext cx="3048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72835"/>
                </a:solidFill>
                <a:latin typeface="Inter"/>
              </a:rPr>
              <a:t>“No se trata de la herramienta, sino de cómo la utilizas.”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2540000"/>
            <a:ext cx="3505200" cy="3683000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5800" y="2813050"/>
            <a:ext cx="3048000" cy="330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00"/>
              </a:lnSpc>
            </a:pPr>
            <a:r>
              <a:rPr sz="2000" b="0">
                <a:solidFill>
                  <a:srgbClr val="0A1A2F"/>
                </a:solidFill>
                <a:latin typeface="Anton"/>
              </a:rPr>
              <a:t>ALEJANDRO MARTÍNEZ LICÓN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5800" y="3175000"/>
            <a:ext cx="1428750" cy="27940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/>
          <a:lstStyle/>
          <a:p>
            <a:r>
              <a:rPr sz="1000" b="1" spc="60">
                <a:solidFill>
                  <a:srgbClr val="006E96"/>
                </a:solidFill>
                <a:latin typeface="Inter"/>
              </a:rPr>
              <a:t>VADAI AGENCIA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800" y="3632200"/>
            <a:ext cx="3048000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E6572"/>
                </a:solidFill>
                <a:latin typeface="Inter"/>
              </a:rPr>
              <a:t>Ingeniero en mecatrónica, socio fundador y director general de VADAI Agencia. Especialista en automatización de procesos empresariales y creación de sistemas con 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5800" y="4921250"/>
            <a:ext cx="304800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072835"/>
                </a:solidFill>
                <a:latin typeface="Inter"/>
              </a:rPr>
              <a:t>“El futuro de las empresas está en dejar lo repetitivo para la tecnología y lo humano para el humano.”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1457" y="5138588"/>
            <a:ext cx="6337300" cy="6526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De 20 dólares a 7 centavos por la misma cantidad de 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030" y="3822460"/>
            <a:ext cx="6337300" cy="14732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6800"/>
              </a:lnSpc>
            </a:pPr>
            <a:r>
              <a:rPr sz="8000" b="0" spc="-150" dirty="0">
                <a:solidFill>
                  <a:srgbClr val="006E96"/>
                </a:solidFill>
                <a:latin typeface="Anton"/>
              </a:rPr>
              <a:t>280</a:t>
            </a:r>
            <a:r>
              <a:rPr lang="es-MX" sz="8000" b="0" spc="-150" dirty="0">
                <a:solidFill>
                  <a:srgbClr val="006E96"/>
                </a:solidFill>
                <a:latin typeface="Anton"/>
              </a:rPr>
              <a:t> veces + barata</a:t>
            </a:r>
            <a:endParaRPr sz="8000" b="0" spc="-150" dirty="0">
              <a:solidFill>
                <a:srgbClr val="006E96"/>
              </a:solidFill>
              <a:latin typeface="Anton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6400"/>
            <a:ext cx="13589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Datos duros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300" y="2114550"/>
            <a:ext cx="6785394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5300" y="1289050"/>
            <a:ext cx="6610350" cy="20982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8800" b="0" spc="-50" dirty="0">
                <a:solidFill>
                  <a:srgbClr val="0A1A2F"/>
                </a:solidFill>
                <a:latin typeface="Anton"/>
              </a:rPr>
              <a:t>LA BARRERA YA</a:t>
            </a:r>
            <a:br>
              <a:rPr dirty="0"/>
            </a:br>
            <a:r>
              <a:rPr sz="8800" b="0" spc="-50" dirty="0">
                <a:solidFill>
                  <a:srgbClr val="0A1A2F"/>
                </a:solidFill>
                <a:latin typeface="Anton"/>
              </a:rPr>
              <a:t>NO ES EL</a:t>
            </a:r>
            <a:r>
              <a:rPr lang="es-MX" sz="8800" b="0" spc="-50" dirty="0">
                <a:solidFill>
                  <a:srgbClr val="0A1A2F"/>
                </a:solidFill>
                <a:latin typeface="Anton"/>
              </a:rPr>
              <a:t> </a:t>
            </a:r>
            <a:r>
              <a:rPr sz="8800" b="0" spc="-50" dirty="0">
                <a:solidFill>
                  <a:srgbClr val="0A1A2F"/>
                </a:solidFill>
                <a:latin typeface="Anton"/>
              </a:rPr>
              <a:t>COSTO.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362700"/>
            <a:ext cx="10160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700" b="0">
                <a:solidFill>
                  <a:srgbClr val="006E96"/>
                </a:solidFill>
                <a:latin typeface="JetBrains Mono"/>
              </a:rPr>
              <a:t>FUENTE   </a:t>
            </a:r>
            <a:r>
              <a:rPr sz="1100" b="0">
                <a:solidFill>
                  <a:srgbClr val="4E6572"/>
                </a:solidFill>
                <a:latin typeface="Inter"/>
              </a:rPr>
              <a:t>Stanford HAI, AI Index Report 2025, cap.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72745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Nunca ha usado IA generativa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5600" y="3854450"/>
            <a:ext cx="5384800" cy="203200"/>
          </a:xfrm>
          <a:prstGeom prst="roundRect">
            <a:avLst>
              <a:gd name="adj" fmla="val 25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53600" y="372745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71%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8465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La usa gratis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5600" y="4311650"/>
            <a:ext cx="2203450" cy="203200"/>
          </a:xfrm>
          <a:prstGeom prst="roundRect">
            <a:avLst>
              <a:gd name="adj" fmla="val 25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53600" y="418465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28%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4185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Paga una suscripción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5600" y="4768850"/>
            <a:ext cx="152400" cy="203200"/>
          </a:xfrm>
          <a:prstGeom prst="roundRect">
            <a:avLst>
              <a:gd name="adj" fmla="val 33333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53600" y="464185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9600" y="406400"/>
            <a:ext cx="17145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Panorama global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28816" y="2124075"/>
            <a:ext cx="1658368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1301750"/>
            <a:ext cx="11341100" cy="1720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lang="es-MX" sz="8800" b="0" spc="-50" dirty="0">
                <a:solidFill>
                  <a:srgbClr val="0A1A2F"/>
                </a:solidFill>
                <a:latin typeface="Anton"/>
              </a:rPr>
              <a:t>¿Cuánto estás utilizando </a:t>
            </a:r>
          </a:p>
          <a:p>
            <a:pPr algn="ctr">
              <a:lnSpc>
                <a:spcPts val="8050"/>
              </a:lnSpc>
            </a:pPr>
            <a:r>
              <a:rPr lang="es-MX" sz="8800" spc="-50" dirty="0">
                <a:solidFill>
                  <a:srgbClr val="0A1A2F"/>
                </a:solidFill>
                <a:latin typeface="Anton"/>
              </a:rPr>
              <a:t>la IA?</a:t>
            </a:r>
            <a:endParaRPr sz="8800" b="0" spc="-50" dirty="0">
              <a:solidFill>
                <a:srgbClr val="0A1A2F"/>
              </a:solidFill>
              <a:latin typeface="Anto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6362700"/>
            <a:ext cx="10160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700" b="0">
                <a:solidFill>
                  <a:srgbClr val="006E96"/>
                </a:solidFill>
                <a:latin typeface="JetBrains Mono"/>
              </a:rPr>
              <a:t>FUENTE   </a:t>
            </a:r>
            <a:r>
              <a:rPr sz="1100" b="0">
                <a:solidFill>
                  <a:srgbClr val="4E6572"/>
                </a:solidFill>
                <a:latin typeface="Inter"/>
              </a:rPr>
              <a:t>DataReportal, Digital 2026; OpenAI, suscripciones pagadas (feb-2026)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08</a:t>
            </a:r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1F9E8C09-6D4A-A9CC-9D4D-ACC0F1CBC021}"/>
              </a:ext>
            </a:extLst>
          </p:cNvPr>
          <p:cNvSpPr/>
          <p:nvPr/>
        </p:nvSpPr>
        <p:spPr>
          <a:xfrm>
            <a:off x="3851275" y="5892800"/>
            <a:ext cx="4489450" cy="279400"/>
          </a:xfrm>
          <a:prstGeom prst="roundRect">
            <a:avLst>
              <a:gd name="adj" fmla="val 50000"/>
            </a:avLst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/>
            <a:r>
              <a:rPr sz="1000" b="1" spc="50">
                <a:solidFill>
                  <a:srgbClr val="24340A"/>
                </a:solidFill>
                <a:latin typeface="Inter"/>
              </a:rPr>
              <a:t>CONTESTA DESDE TU CELULAR · EL QR VA EN PANTALLA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72745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Usan IA en alguna función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5600" y="3854450"/>
            <a:ext cx="5384800" cy="203200"/>
          </a:xfrm>
          <a:prstGeom prst="roundRect">
            <a:avLst>
              <a:gd name="adj" fmla="val 25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53600" y="372745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88%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8465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Ven impacto en su utilidad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5600" y="4311650"/>
            <a:ext cx="2476500" cy="203200"/>
          </a:xfrm>
          <a:prstGeom prst="roundRect">
            <a:avLst>
              <a:gd name="adj" fmla="val 25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53600" y="418465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39%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4185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Le sacan valor significativo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5600" y="4768850"/>
            <a:ext cx="374650" cy="203200"/>
          </a:xfrm>
          <a:prstGeom prst="roundRect">
            <a:avLst>
              <a:gd name="adj" fmla="val 25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53600" y="464185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9600" y="406400"/>
            <a:ext cx="18859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Etapa 3 · La IA hoy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98620" y="2127250"/>
            <a:ext cx="624205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1327150"/>
            <a:ext cx="11220091" cy="2051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8050"/>
              </a:lnSpc>
            </a:pPr>
            <a:r>
              <a:rPr sz="8800" b="0" spc="-50" dirty="0">
                <a:solidFill>
                  <a:srgbClr val="0A1A2F"/>
                </a:solidFill>
                <a:latin typeface="Anton"/>
              </a:rPr>
              <a:t>ADOPTAR NO ES</a:t>
            </a:r>
            <a:br>
              <a:rPr dirty="0"/>
            </a:br>
            <a:r>
              <a:rPr sz="8800" b="0" spc="-50" dirty="0">
                <a:solidFill>
                  <a:srgbClr val="0A1A2F"/>
                </a:solidFill>
                <a:latin typeface="Anton"/>
              </a:rPr>
              <a:t>TRANSFORMAR.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362700"/>
            <a:ext cx="10160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700" b="0">
                <a:solidFill>
                  <a:srgbClr val="006E96"/>
                </a:solidFill>
                <a:latin typeface="JetBrains Mono"/>
              </a:rPr>
              <a:t>FUENTE   </a:t>
            </a:r>
            <a:r>
              <a:rPr sz="1100" b="0">
                <a:solidFill>
                  <a:srgbClr val="4E6572"/>
                </a:solidFill>
                <a:latin typeface="Inter"/>
              </a:rPr>
              <a:t>McKinsey, The State of AI 2025 (nov-2025) · McKinsey, The State of AI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806950"/>
            <a:ext cx="6268528" cy="8404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de los mexicanos en edad de trabajar usó IA generativa este trimestre. El promedio mundial es 17.8%; el Norte Global, 27.5%. Usamos mucho; falta convertirlo en resultado.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434" y="3361667"/>
            <a:ext cx="6137694" cy="98053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500"/>
              </a:lnSpc>
            </a:pPr>
            <a:r>
              <a:rPr sz="10000" b="0" spc="-200" dirty="0">
                <a:solidFill>
                  <a:srgbClr val="006E96"/>
                </a:solidFill>
                <a:latin typeface="Anton"/>
              </a:rPr>
              <a:t>20.1%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6400"/>
            <a:ext cx="15748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América Latina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7305" y="1029419"/>
            <a:ext cx="2996241" cy="793031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2822" y="1785548"/>
            <a:ext cx="2846718" cy="73025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1242803"/>
            <a:ext cx="6610350" cy="2144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500"/>
              </a:lnSpc>
            </a:pPr>
            <a:r>
              <a:rPr sz="5400" b="0" spc="-50" dirty="0">
                <a:solidFill>
                  <a:srgbClr val="0A1A2F"/>
                </a:solidFill>
                <a:latin typeface="Anton"/>
              </a:rPr>
              <a:t>MÉXICO VA ARRIBA</a:t>
            </a:r>
            <a:r>
              <a:rPr lang="es-MX" sz="1600" b="0" spc="-50" dirty="0">
                <a:solidFill>
                  <a:srgbClr val="0A1A2F"/>
                </a:solidFill>
                <a:latin typeface="Anton"/>
              </a:rPr>
              <a:t> </a:t>
            </a:r>
            <a:r>
              <a:rPr sz="5400" b="0" spc="-50" dirty="0">
                <a:solidFill>
                  <a:srgbClr val="0A1A2F"/>
                </a:solidFill>
                <a:latin typeface="Anton"/>
              </a:rPr>
              <a:t>DEL PROMEDIO DEL</a:t>
            </a:r>
            <a:r>
              <a:rPr lang="es-MX" sz="1600" b="0" spc="-50" dirty="0">
                <a:solidFill>
                  <a:srgbClr val="0A1A2F"/>
                </a:solidFill>
                <a:latin typeface="Anton"/>
              </a:rPr>
              <a:t>   </a:t>
            </a:r>
            <a:r>
              <a:rPr sz="5400" b="0" spc="-50" dirty="0">
                <a:solidFill>
                  <a:srgbClr val="0A1A2F"/>
                </a:solidFill>
                <a:latin typeface="Anton"/>
              </a:rPr>
              <a:t>MUNDO.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362700"/>
            <a:ext cx="10160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700" b="0">
                <a:solidFill>
                  <a:srgbClr val="006E96"/>
                </a:solidFill>
                <a:latin typeface="JetBrains Mono"/>
              </a:rPr>
              <a:t>FUENTE   </a:t>
            </a:r>
            <a:r>
              <a:rPr sz="1100" b="0">
                <a:solidFill>
                  <a:srgbClr val="4E6572"/>
                </a:solidFill>
                <a:latin typeface="Inter"/>
              </a:rPr>
              <a:t>Microsoft AI Economy Institute, Global AI Diffusion Report Q1 2026 (may-2026)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01236"/>
            <a:ext cx="12192000" cy="8359236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3319129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>
                <a:solidFill>
                  <a:srgbClr val="4E6572"/>
                </a:solidFill>
                <a:latin typeface="Inter"/>
              </a:rPr>
              <a:t>"La IA reemplaza todo"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92800" y="3319129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1600" y="3319129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 dirty="0" err="1">
                <a:solidFill>
                  <a:srgbClr val="072835"/>
                </a:solidFill>
                <a:latin typeface="Inter"/>
              </a:rPr>
              <a:t>amplifica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el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criterio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de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quien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la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usa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, el humano dirige.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4100179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>
                <a:solidFill>
                  <a:srgbClr val="4E6572"/>
                </a:solidFill>
                <a:latin typeface="Inter"/>
              </a:rPr>
              <a:t>"Es para programadores"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2800" y="4100179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51600" y="4100179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 dirty="0">
                <a:solidFill>
                  <a:srgbClr val="072835"/>
                </a:solidFill>
                <a:latin typeface="Inter"/>
              </a:rPr>
              <a:t>la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oportunidad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está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en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procesos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reales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 de negocio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4881229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>
                <a:solidFill>
                  <a:srgbClr val="4E6572"/>
                </a:solidFill>
                <a:latin typeface="Inter"/>
              </a:rPr>
              <a:t>"Gratis basta"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2800" y="4881229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1600" y="4881229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lo empresarial vive en el plan de pago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662279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>
                <a:solidFill>
                  <a:srgbClr val="4E6572"/>
                </a:solidFill>
                <a:latin typeface="Inter"/>
              </a:rPr>
              <a:t>"Un prompt lo resuelve"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2800" y="5662279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1600" y="5662279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 dirty="0" err="1">
                <a:solidFill>
                  <a:srgbClr val="072835"/>
                </a:solidFill>
                <a:latin typeface="Inter"/>
              </a:rPr>
              <a:t>hace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falta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 visión, 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método</a:t>
            </a:r>
            <a:r>
              <a:rPr lang="es-MX" sz="1600" dirty="0">
                <a:solidFill>
                  <a:srgbClr val="072835"/>
                </a:solidFill>
                <a:latin typeface="Inter"/>
              </a:rPr>
              <a:t>,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evaluación y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alineación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.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9600" y="406400"/>
            <a:ext cx="13271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IA sin humo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2150" y="998149"/>
            <a:ext cx="4871050" cy="1116761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73175" y="1307260"/>
            <a:ext cx="11341100" cy="9152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8800" b="0" spc="-50" dirty="0">
                <a:solidFill>
                  <a:srgbClr val="0A1A2F"/>
                </a:solidFill>
                <a:latin typeface="Anton"/>
              </a:rPr>
              <a:t> MITOS</a:t>
            </a:r>
            <a:r>
              <a:rPr lang="es-MX" sz="8800" b="0" spc="-50" dirty="0">
                <a:solidFill>
                  <a:srgbClr val="0A1A2F"/>
                </a:solidFill>
                <a:latin typeface="Anton"/>
              </a:rPr>
              <a:t>     vs</a:t>
            </a:r>
            <a:r>
              <a:rPr sz="8800" b="0" spc="-50" dirty="0">
                <a:solidFill>
                  <a:srgbClr val="0A1A2F"/>
                </a:solidFill>
                <a:latin typeface="Anton"/>
              </a:rPr>
              <a:t> </a:t>
            </a:r>
            <a:r>
              <a:rPr lang="es-MX" sz="8800" b="0" spc="-50" dirty="0">
                <a:solidFill>
                  <a:srgbClr val="0A1A2F"/>
                </a:solidFill>
                <a:latin typeface="Anton"/>
              </a:rPr>
              <a:t>  </a:t>
            </a:r>
            <a:r>
              <a:rPr sz="8800" b="0" spc="-50" dirty="0">
                <a:solidFill>
                  <a:srgbClr val="0A1A2F"/>
                </a:solidFill>
                <a:latin typeface="Anton"/>
              </a:rPr>
              <a:t>REALIDAD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806950"/>
            <a:ext cx="6337300" cy="13398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>
                <a:solidFill>
                  <a:srgbClr val="072835"/>
                </a:solidFill>
                <a:latin typeface="Inter"/>
              </a:rPr>
              <a:t>empleos netos en el mundo para 2030, y 39% de las habilidades actuales cambian. Quien trabaja con IA y criterio gana 62% más; quien no, empieza a quedar fuera.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3714750"/>
            <a:ext cx="6337300" cy="1841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8500"/>
              </a:lnSpc>
            </a:pPr>
            <a:r>
              <a:rPr sz="10000" b="0" spc="-200">
                <a:solidFill>
                  <a:srgbClr val="006E96"/>
                </a:solidFill>
                <a:latin typeface="Anton"/>
              </a:rPr>
              <a:t>+78 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6400"/>
            <a:ext cx="18034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Futuro del trabajo</a:t>
            </a:r>
          </a:p>
        </p:txBody>
      </p:sp>
      <p:sp>
        <p:nvSpPr>
          <p:cNvPr id="7" name="Rectangle 6"/>
          <p:cNvSpPr/>
          <p:nvPr/>
        </p:nvSpPr>
        <p:spPr>
          <a:xfrm>
            <a:off x="4743450" y="1797050"/>
            <a:ext cx="812800" cy="73025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495550"/>
            <a:ext cx="4546600" cy="73025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9600" y="1257300"/>
            <a:ext cx="6610350" cy="2559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500"/>
              </a:lnSpc>
            </a:pPr>
            <a:r>
              <a:rPr sz="6000" b="0" spc="-50">
                <a:solidFill>
                  <a:srgbClr val="0A1A2F"/>
                </a:solidFill>
                <a:latin typeface="Anton"/>
              </a:rPr>
              <a:t>LAS PROFESIONES NO</a:t>
            </a:r>
            <a:br/>
            <a:r>
              <a:rPr sz="6000" b="0" spc="-50">
                <a:solidFill>
                  <a:srgbClr val="0A1A2F"/>
                </a:solidFill>
                <a:latin typeface="Anton"/>
              </a:rPr>
              <a:t>DESAPARECEN. SE</a:t>
            </a:r>
            <a:br/>
            <a:r>
              <a:rPr sz="6000" b="0" spc="-50">
                <a:solidFill>
                  <a:srgbClr val="0A1A2F"/>
                </a:solidFill>
                <a:latin typeface="Anton"/>
              </a:rPr>
              <a:t>PARTEN EN 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362700"/>
            <a:ext cx="10160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700" b="0">
                <a:solidFill>
                  <a:srgbClr val="006E96"/>
                </a:solidFill>
                <a:latin typeface="JetBrains Mono"/>
              </a:rPr>
              <a:t>FUENTE   </a:t>
            </a:r>
            <a:r>
              <a:rPr sz="1100" b="0">
                <a:solidFill>
                  <a:srgbClr val="4E6572"/>
                </a:solidFill>
                <a:latin typeface="Inter"/>
              </a:rPr>
              <a:t>WEF, Future of Jobs Report 2025 · PwC, Global AI Jobs Barometer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473450"/>
            <a:ext cx="6337300" cy="1022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800" b="0" dirty="0">
                <a:solidFill>
                  <a:srgbClr val="072835"/>
                </a:solidFill>
                <a:latin typeface="Inter"/>
              </a:rPr>
              <a:t>1.- </a:t>
            </a:r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¿Cuál es tu puesto? </a:t>
            </a:r>
          </a:p>
          <a:p>
            <a:pPr algn="l"/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2.- ¿Cuántos años llevas en tu empresa? </a:t>
            </a:r>
          </a:p>
          <a:p>
            <a:pPr algn="l"/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3.- ¿Cuántos cambios o mejoras has desarrollado este año?</a:t>
            </a:r>
          </a:p>
          <a:p>
            <a:pPr algn="l"/>
            <a:r>
              <a:rPr lang="es-MX" noProof="0" dirty="0">
                <a:solidFill>
                  <a:srgbClr val="072835"/>
                </a:solidFill>
                <a:latin typeface="Inter"/>
              </a:rPr>
              <a:t>4.- ¿</a:t>
            </a:r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Qué esperas que pase con  la IA en tu trabajo? </a:t>
            </a:r>
          </a:p>
          <a:p>
            <a:pPr algn="l"/>
            <a:r>
              <a:rPr lang="es-MX" noProof="0" dirty="0">
                <a:solidFill>
                  <a:srgbClr val="072835"/>
                </a:solidFill>
                <a:latin typeface="Inter"/>
              </a:rPr>
              <a:t>5.- </a:t>
            </a:r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¿Qué cambiarías ya? ¿Qué proceso, control, información actividad podría mejorar con el apoyo de la IA?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5765800"/>
            <a:ext cx="4489450" cy="279400"/>
          </a:xfrm>
          <a:prstGeom prst="roundRect">
            <a:avLst>
              <a:gd name="adj" fmla="val 50000"/>
            </a:avLst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/>
            <a:r>
              <a:rPr sz="1000" b="1" spc="50">
                <a:solidFill>
                  <a:srgbClr val="24340A"/>
                </a:solidFill>
                <a:latin typeface="Inter"/>
              </a:rPr>
              <a:t>CONTESTA DESDE TU CELULAR · EL QR VA EN PANTALLA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6400"/>
            <a:ext cx="3439064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lang="es-MX" sz="1200" dirty="0">
                <a:solidFill>
                  <a:srgbClr val="006E96"/>
                </a:solidFill>
                <a:latin typeface="Inter"/>
              </a:rPr>
              <a:t>Lo que no se diagnostica no se puede mejorar</a:t>
            </a:r>
            <a:endParaRPr sz="1200" b="0" dirty="0">
              <a:solidFill>
                <a:srgbClr val="006E96"/>
              </a:solidFill>
              <a:latin typeface="Inter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5300" y="1085850"/>
            <a:ext cx="549910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50" y="1327150"/>
            <a:ext cx="6610350" cy="1911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8000" b="0" spc="-50" dirty="0">
                <a:solidFill>
                  <a:srgbClr val="0A1A2F"/>
                </a:solidFill>
                <a:latin typeface="Anton"/>
              </a:rPr>
              <a:t>DIAGNÓSTICO</a:t>
            </a:r>
            <a:br>
              <a:rPr sz="1600" dirty="0"/>
            </a:br>
            <a:r>
              <a:rPr sz="8000" b="0" spc="-50" dirty="0">
                <a:solidFill>
                  <a:srgbClr val="0A1A2F"/>
                </a:solidFill>
                <a:latin typeface="Anton"/>
              </a:rPr>
              <a:t>PERSONAL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99" y="3175000"/>
            <a:ext cx="9908875" cy="1079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3200" dirty="0">
                <a:solidFill>
                  <a:srgbClr val="F5F8FB"/>
                </a:solidFill>
                <a:latin typeface="Inter"/>
              </a:rPr>
              <a:t>“Líder que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no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mejora</a:t>
            </a:r>
            <a:r>
              <a:rPr lang="es-MX" sz="3200" b="0" dirty="0">
                <a:solidFill>
                  <a:srgbClr val="F5F8FB"/>
                </a:solidFill>
                <a:latin typeface="Inter"/>
              </a:rPr>
              <a:t> o cambia algo en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su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área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de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trabajo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, </a:t>
            </a:r>
            <a:endParaRPr lang="es-MX" sz="3200" b="0" dirty="0">
              <a:solidFill>
                <a:srgbClr val="F5F8FB"/>
              </a:solidFill>
              <a:latin typeface="Inter"/>
            </a:endParaRPr>
          </a:p>
          <a:p>
            <a:pPr algn="l"/>
            <a:r>
              <a:rPr sz="3200" b="0" dirty="0" err="1">
                <a:solidFill>
                  <a:srgbClr val="F5F8FB"/>
                </a:solidFill>
                <a:latin typeface="Inter"/>
              </a:rPr>
              <a:t>que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le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descuenten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el día</a:t>
            </a:r>
            <a:r>
              <a:rPr lang="es-MX" sz="3200" b="0" dirty="0">
                <a:solidFill>
                  <a:srgbClr val="F5F8FB"/>
                </a:solidFill>
                <a:latin typeface="Inter"/>
              </a:rPr>
              <a:t>"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4394200"/>
            <a:ext cx="7620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93A3B5"/>
                </a:solidFill>
                <a:latin typeface="Inter"/>
              </a:rPr>
              <a:t>— Roberto Martínez Ortiz, Total Coach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6400"/>
            <a:ext cx="1384300" cy="311150"/>
          </a:xfrm>
          <a:prstGeom prst="roundRect">
            <a:avLst>
              <a:gd name="adj" fmla="val 50000"/>
            </a:avLst>
          </a:prstGeom>
          <a:solidFill>
            <a:srgbClr val="22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Oportunidad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238500"/>
            <a:ext cx="7096664" cy="247799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“0” Desconocimiento:   la he escuchado pero no sé nada </a:t>
            </a:r>
          </a:p>
          <a:p>
            <a:pPr algn="l">
              <a:spcAft>
                <a:spcPts val="1200"/>
              </a:spcAft>
            </a:pPr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1er Curiosidad:               exploro qué es y para qué sirve</a:t>
            </a:r>
          </a:p>
          <a:p>
            <a:pPr algn="l">
              <a:spcAft>
                <a:spcPts val="1200"/>
              </a:spcAft>
            </a:pPr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2º Uso gratuito:              pruebas sin estructura</a:t>
            </a:r>
            <a:r>
              <a:rPr lang="es-MX" noProof="0" dirty="0">
                <a:solidFill>
                  <a:srgbClr val="072835"/>
                </a:solidFill>
                <a:latin typeface="Inter"/>
              </a:rPr>
              <a:t>, preguntas como </a:t>
            </a:r>
            <a:r>
              <a:rPr lang="es-MX" noProof="0" dirty="0" err="1">
                <a:solidFill>
                  <a:srgbClr val="072835"/>
                </a:solidFill>
                <a:latin typeface="Inter"/>
              </a:rPr>
              <a:t>Wikipedia</a:t>
            </a:r>
            <a:endParaRPr lang="es-MX" sz="1800" b="0" noProof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3er Uso de pago:            archivos, proyectos y memoria</a:t>
            </a:r>
          </a:p>
          <a:p>
            <a:pPr algn="l">
              <a:spcAft>
                <a:spcPts val="1200"/>
              </a:spcAft>
            </a:pPr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4º Proyectos:                   IA conectada a procesos reales y automatizaciones</a:t>
            </a:r>
          </a:p>
          <a:p>
            <a:pPr algn="l">
              <a:spcAft>
                <a:spcPts val="1200"/>
              </a:spcAft>
            </a:pPr>
            <a:r>
              <a:rPr lang="es-MX" sz="1800" b="0" noProof="0" dirty="0">
                <a:solidFill>
                  <a:srgbClr val="072835"/>
                </a:solidFill>
                <a:latin typeface="Inter"/>
              </a:rPr>
              <a:t>5º Retorno medible:       Impacto rentable documentado y repetible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6400"/>
            <a:ext cx="16827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Momento actual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15497" y="1021032"/>
            <a:ext cx="2782738" cy="1108974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1194878"/>
            <a:ext cx="6610350" cy="30953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6600" b="0" spc="-50" dirty="0">
                <a:solidFill>
                  <a:srgbClr val="0A1A2F"/>
                </a:solidFill>
                <a:latin typeface="Anton"/>
              </a:rPr>
              <a:t>¿EN QUÉ</a:t>
            </a:r>
            <a:r>
              <a:rPr lang="es-MX" sz="1200" b="0" spc="-50" dirty="0">
                <a:solidFill>
                  <a:srgbClr val="0A1A2F"/>
                </a:solidFill>
                <a:latin typeface="Anton"/>
              </a:rPr>
              <a:t>     </a:t>
            </a:r>
            <a:r>
              <a:rPr sz="6600" b="0" spc="-50" dirty="0">
                <a:solidFill>
                  <a:srgbClr val="0A1A2F"/>
                </a:solidFill>
                <a:latin typeface="Anton"/>
              </a:rPr>
              <a:t>ESCALÓN</a:t>
            </a:r>
            <a:r>
              <a:rPr lang="es-MX" sz="6600" b="0" spc="-50" dirty="0">
                <a:solidFill>
                  <a:srgbClr val="0A1A2F"/>
                </a:solidFill>
                <a:latin typeface="Anton"/>
              </a:rPr>
              <a:t> de la IA te encuent</a:t>
            </a:r>
            <a:r>
              <a:rPr lang="es-MX" sz="6600" spc="-50" dirty="0">
                <a:solidFill>
                  <a:srgbClr val="0A1A2F"/>
                </a:solidFill>
                <a:latin typeface="Anton"/>
              </a:rPr>
              <a:t>ras</a:t>
            </a:r>
            <a:r>
              <a:rPr sz="6600" b="0" spc="-50" dirty="0">
                <a:solidFill>
                  <a:srgbClr val="0A1A2F"/>
                </a:solidFill>
                <a:latin typeface="Anton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15</a:t>
            </a: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BF1F4103-29CF-2D55-D229-1B334DF6D7B3}"/>
              </a:ext>
            </a:extLst>
          </p:cNvPr>
          <p:cNvSpPr/>
          <p:nvPr/>
        </p:nvSpPr>
        <p:spPr>
          <a:xfrm>
            <a:off x="3914775" y="6404754"/>
            <a:ext cx="4489450" cy="279400"/>
          </a:xfrm>
          <a:prstGeom prst="roundRect">
            <a:avLst>
              <a:gd name="adj" fmla="val 50000"/>
            </a:avLst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/>
            <a:r>
              <a:rPr sz="1000" b="1" spc="50">
                <a:solidFill>
                  <a:srgbClr val="24340A"/>
                </a:solidFill>
                <a:latin typeface="Inter"/>
              </a:rPr>
              <a:t>CONTESTA DESDE TU CELULAR · EL QR VA EN PANTALLA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30CE-A3CA-3AE7-76AF-0FF3A05D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.jpg">
            <a:extLst>
              <a:ext uri="{FF2B5EF4-FFF2-40B4-BE49-F238E27FC236}">
                <a16:creationId xmlns:a16="http://schemas.microsoft.com/office/drawing/2014/main" id="{15346DF1-38E1-5E95-0CB4-86A013CFC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501236"/>
            <a:ext cx="12192000" cy="8359236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170FCFC-6CAC-EA34-DD4F-B4B48DA723BA}"/>
              </a:ext>
            </a:extLst>
          </p:cNvPr>
          <p:cNvSpPr/>
          <p:nvPr/>
        </p:nvSpPr>
        <p:spPr>
          <a:xfrm>
            <a:off x="914400" y="3004804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b="0" dirty="0">
                <a:solidFill>
                  <a:srgbClr val="4E6572"/>
                </a:solidFill>
                <a:latin typeface="Inter"/>
              </a:rPr>
              <a:t>AUTOMATIZACIÓN de procesos</a:t>
            </a:r>
            <a:endParaRPr sz="16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5A2F6-01C5-08D2-6C98-FC1C3724E836}"/>
              </a:ext>
            </a:extLst>
          </p:cNvPr>
          <p:cNvSpPr txBox="1"/>
          <p:nvPr/>
        </p:nvSpPr>
        <p:spPr>
          <a:xfrm>
            <a:off x="5892800" y="3004804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8CEE0B-559D-263B-1BF0-973AA8872B45}"/>
              </a:ext>
            </a:extLst>
          </p:cNvPr>
          <p:cNvSpPr/>
          <p:nvPr/>
        </p:nvSpPr>
        <p:spPr>
          <a:xfrm>
            <a:off x="6451600" y="3004804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dirty="0">
                <a:solidFill>
                  <a:srgbClr val="072835"/>
                </a:solidFill>
                <a:latin typeface="Inter"/>
              </a:rPr>
              <a:t>VENTAJA COMPETITIVA medible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AF28A5-FB8C-AF74-E1F9-DAD4901509A4}"/>
              </a:ext>
            </a:extLst>
          </p:cNvPr>
          <p:cNvSpPr/>
          <p:nvPr/>
        </p:nvSpPr>
        <p:spPr>
          <a:xfrm>
            <a:off x="914400" y="3785854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dirty="0">
                <a:solidFill>
                  <a:srgbClr val="4E6572"/>
                </a:solidFill>
                <a:latin typeface="Inter"/>
              </a:rPr>
              <a:t>DECISIONES basadas en DATOS</a:t>
            </a:r>
            <a:endParaRPr sz="16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B6BA29-BDF0-3F60-65F8-A971C4AC91FC}"/>
              </a:ext>
            </a:extLst>
          </p:cNvPr>
          <p:cNvSpPr txBox="1"/>
          <p:nvPr/>
        </p:nvSpPr>
        <p:spPr>
          <a:xfrm>
            <a:off x="5892800" y="3785854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52876B-4676-5212-E4AC-D3798ADDBB97}"/>
              </a:ext>
            </a:extLst>
          </p:cNvPr>
          <p:cNvSpPr/>
          <p:nvPr/>
        </p:nvSpPr>
        <p:spPr>
          <a:xfrm>
            <a:off x="6451600" y="3785854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b="0" dirty="0">
                <a:solidFill>
                  <a:srgbClr val="072835"/>
                </a:solidFill>
                <a:latin typeface="Inter"/>
              </a:rPr>
              <a:t>ESCALABILIDAD sin crecer nómina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2C58381-3486-6C65-AEA2-E8990D391B58}"/>
              </a:ext>
            </a:extLst>
          </p:cNvPr>
          <p:cNvSpPr/>
          <p:nvPr/>
        </p:nvSpPr>
        <p:spPr>
          <a:xfrm>
            <a:off x="914400" y="4566904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dirty="0">
                <a:solidFill>
                  <a:srgbClr val="4E6572"/>
                </a:solidFill>
                <a:latin typeface="Inter"/>
              </a:rPr>
              <a:t>Aumento de PRODUCTIVIDAD</a:t>
            </a:r>
            <a:endParaRPr sz="16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B0B5AF-A906-5912-AE8E-D276A9CE0FD9}"/>
              </a:ext>
            </a:extLst>
          </p:cNvPr>
          <p:cNvSpPr txBox="1"/>
          <p:nvPr/>
        </p:nvSpPr>
        <p:spPr>
          <a:xfrm>
            <a:off x="5892800" y="4566904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C37D49-CEDD-1170-10DF-93EA7AE25682}"/>
              </a:ext>
            </a:extLst>
          </p:cNvPr>
          <p:cNvSpPr/>
          <p:nvPr/>
        </p:nvSpPr>
        <p:spPr>
          <a:xfrm>
            <a:off x="6451600" y="4566904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b="0" dirty="0">
                <a:solidFill>
                  <a:srgbClr val="072835"/>
                </a:solidFill>
                <a:latin typeface="Inter"/>
              </a:rPr>
              <a:t>DIAGNÓSTICO empresarial en tiempo real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7C3DF8F-C89B-FA2F-6634-73C04C6CE816}"/>
              </a:ext>
            </a:extLst>
          </p:cNvPr>
          <p:cNvSpPr/>
          <p:nvPr/>
        </p:nvSpPr>
        <p:spPr>
          <a:xfrm>
            <a:off x="914400" y="5347954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dirty="0">
                <a:solidFill>
                  <a:srgbClr val="4E6572"/>
                </a:solidFill>
                <a:latin typeface="Inter"/>
              </a:rPr>
              <a:t>Reducción de COSTOS operativos</a:t>
            </a:r>
            <a:endParaRPr sz="16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29FD16-BFC9-4135-B72B-D40886995B39}"/>
              </a:ext>
            </a:extLst>
          </p:cNvPr>
          <p:cNvSpPr txBox="1"/>
          <p:nvPr/>
        </p:nvSpPr>
        <p:spPr>
          <a:xfrm>
            <a:off x="5892800" y="5347954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64D8A4F-A0A4-BECA-C04F-57C394FAB91C}"/>
              </a:ext>
            </a:extLst>
          </p:cNvPr>
          <p:cNvSpPr/>
          <p:nvPr/>
        </p:nvSpPr>
        <p:spPr>
          <a:xfrm>
            <a:off x="6451600" y="5347954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b="0" dirty="0">
                <a:solidFill>
                  <a:srgbClr val="072835"/>
                </a:solidFill>
                <a:latin typeface="Inter"/>
              </a:rPr>
              <a:t>INNOVACIÓN Acelerada.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BEB210D-BE11-F706-0CE1-DD47AA4A1845}"/>
              </a:ext>
            </a:extLst>
          </p:cNvPr>
          <p:cNvSpPr/>
          <p:nvPr/>
        </p:nvSpPr>
        <p:spPr>
          <a:xfrm>
            <a:off x="548186" y="-1234234"/>
            <a:ext cx="13271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 dirty="0">
                <a:solidFill>
                  <a:srgbClr val="006E96"/>
                </a:solidFill>
                <a:latin typeface="Inter"/>
              </a:rPr>
              <a:t>IA sin </a:t>
            </a:r>
            <a:r>
              <a:rPr sz="1200" b="0" dirty="0" err="1">
                <a:solidFill>
                  <a:srgbClr val="006E96"/>
                </a:solidFill>
                <a:latin typeface="Inter"/>
              </a:rPr>
              <a:t>humo</a:t>
            </a:r>
            <a:endParaRPr sz="1200" b="0" dirty="0">
              <a:solidFill>
                <a:srgbClr val="006E96"/>
              </a:solidFill>
              <a:latin typeface="Inter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570090-0B3F-8486-F323-2E7BA8E4E748}"/>
              </a:ext>
            </a:extLst>
          </p:cNvPr>
          <p:cNvSpPr/>
          <p:nvPr/>
        </p:nvSpPr>
        <p:spPr>
          <a:xfrm>
            <a:off x="3863675" y="172460"/>
            <a:ext cx="4871050" cy="1116761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EA7C27-8887-C4EA-9602-E17F322141C6}"/>
              </a:ext>
            </a:extLst>
          </p:cNvPr>
          <p:cNvSpPr txBox="1"/>
          <p:nvPr/>
        </p:nvSpPr>
        <p:spPr>
          <a:xfrm>
            <a:off x="781050" y="423480"/>
            <a:ext cx="11341100" cy="9152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8050"/>
              </a:lnSpc>
            </a:pPr>
            <a:r>
              <a:rPr lang="es-MX" sz="8800" spc="-50" dirty="0">
                <a:solidFill>
                  <a:srgbClr val="0A1A2F"/>
                </a:solidFill>
                <a:latin typeface="Anton"/>
              </a:rPr>
              <a:t>L</a:t>
            </a:r>
            <a:r>
              <a:rPr lang="es-MX" sz="8800" b="0" spc="-50" dirty="0">
                <a:solidFill>
                  <a:srgbClr val="0A1A2F"/>
                </a:solidFill>
                <a:latin typeface="Anton"/>
              </a:rPr>
              <a:t>os 10 valores más grandes de la IA</a:t>
            </a:r>
            <a:endParaRPr sz="8800" b="0" spc="-50" dirty="0">
              <a:solidFill>
                <a:srgbClr val="0A1A2F"/>
              </a:solidFill>
              <a:latin typeface="Anto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736DEA-E836-8274-65B3-A7C006545037}"/>
              </a:ext>
            </a:extLst>
          </p:cNvPr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16</a:t>
            </a: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543C7A2C-BB57-0E7F-7AB9-AEB15F441BCE}"/>
              </a:ext>
            </a:extLst>
          </p:cNvPr>
          <p:cNvSpPr/>
          <p:nvPr/>
        </p:nvSpPr>
        <p:spPr>
          <a:xfrm>
            <a:off x="914400" y="6120195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dirty="0">
                <a:solidFill>
                  <a:srgbClr val="4E6572"/>
                </a:solidFill>
                <a:latin typeface="Inter"/>
              </a:rPr>
              <a:t>Mejor EXPERIENCIA del cliente</a:t>
            </a:r>
            <a:endParaRPr sz="16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D7FB7213-864D-CB20-EE6D-CB09711D5C82}"/>
              </a:ext>
            </a:extLst>
          </p:cNvPr>
          <p:cNvSpPr txBox="1"/>
          <p:nvPr/>
        </p:nvSpPr>
        <p:spPr>
          <a:xfrm>
            <a:off x="5892800" y="6120195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7D5969B7-83D4-FA91-CD61-2832C74244DF}"/>
              </a:ext>
            </a:extLst>
          </p:cNvPr>
          <p:cNvSpPr/>
          <p:nvPr/>
        </p:nvSpPr>
        <p:spPr>
          <a:xfrm>
            <a:off x="6451600" y="6120195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b="0" dirty="0">
                <a:solidFill>
                  <a:srgbClr val="072835"/>
                </a:solidFill>
                <a:latin typeface="Inter"/>
              </a:rPr>
              <a:t>ROI medible en meses no en años.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023845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0A1728"/>
          </a:solidFill>
        </p:spPr>
      </p:pic>
      <p:sp>
        <p:nvSpPr>
          <p:cNvPr id="3" name="TextBox 2"/>
          <p:cNvSpPr txBox="1"/>
          <p:nvPr/>
        </p:nvSpPr>
        <p:spPr>
          <a:xfrm>
            <a:off x="863600" y="30162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600" y="3479800"/>
            <a:ext cx="2120900" cy="546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A1A2F"/>
                </a:solidFill>
                <a:latin typeface="Inter"/>
              </a:rPr>
              <a:t>¿Tienes una idea de mejora?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407670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400" b="0" dirty="0">
                <a:solidFill>
                  <a:srgbClr val="4E6572"/>
                </a:solidFill>
                <a:latin typeface="Inter"/>
              </a:rPr>
              <a:t>Un proceso, una eliminación de actividad, un reporte en cualquier área:  ventas, finanzas, compras, RH, atención al cliente, planeación de la demanda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44900" y="30162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4900" y="3479800"/>
            <a:ext cx="2120900" cy="546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0A1A2F"/>
                </a:solidFill>
                <a:latin typeface="Inter"/>
              </a:rPr>
              <a:t>¿</a:t>
            </a:r>
            <a:r>
              <a:rPr sz="1600" b="1" dirty="0" err="1">
                <a:solidFill>
                  <a:srgbClr val="0A1A2F"/>
                </a:solidFill>
                <a:latin typeface="Inter"/>
              </a:rPr>
              <a:t>Desde</a:t>
            </a:r>
            <a:r>
              <a:rPr sz="1600" b="1" dirty="0">
                <a:solidFill>
                  <a:srgbClr val="0A1A2F"/>
                </a:solidFill>
                <a:latin typeface="Inter"/>
              </a:rPr>
              <a:t> </a:t>
            </a:r>
            <a:r>
              <a:rPr sz="1600" b="1" dirty="0" err="1">
                <a:solidFill>
                  <a:srgbClr val="0A1A2F"/>
                </a:solidFill>
                <a:latin typeface="Inter"/>
              </a:rPr>
              <a:t>cuándo</a:t>
            </a:r>
            <a:r>
              <a:rPr sz="1600" b="1" dirty="0">
                <a:solidFill>
                  <a:srgbClr val="0A1A2F"/>
                </a:solidFill>
                <a:latin typeface="Inter"/>
              </a:rPr>
              <a:t> la </a:t>
            </a:r>
            <a:r>
              <a:rPr sz="1600" b="1" dirty="0" err="1">
                <a:solidFill>
                  <a:srgbClr val="0A1A2F"/>
                </a:solidFill>
                <a:latin typeface="Inter"/>
              </a:rPr>
              <a:t>traes</a:t>
            </a:r>
            <a:r>
              <a:rPr lang="es-MX" sz="1600" b="1" dirty="0">
                <a:solidFill>
                  <a:srgbClr val="0A1A2F"/>
                </a:solidFill>
                <a:latin typeface="Inter"/>
              </a:rPr>
              <a:t> en mente</a:t>
            </a:r>
            <a:r>
              <a:rPr sz="1600" b="1" dirty="0">
                <a:solidFill>
                  <a:srgbClr val="0A1A2F"/>
                </a:solidFill>
                <a:latin typeface="Inter"/>
              </a:rPr>
              <a:t>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4900" y="407670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400" dirty="0">
                <a:solidFill>
                  <a:srgbClr val="4E6572"/>
                </a:solidFill>
                <a:latin typeface="Inter"/>
              </a:rPr>
              <a:t>Las que tienen más tiempo suelen ser las más valiosas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6200" y="30162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6200" y="3479800"/>
            <a:ext cx="2120900" cy="546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0A1A2F"/>
                </a:solidFill>
                <a:latin typeface="Inter"/>
              </a:rPr>
              <a:t>¿Por </a:t>
            </a:r>
            <a:r>
              <a:rPr sz="1600" b="1" dirty="0" err="1">
                <a:solidFill>
                  <a:srgbClr val="0A1A2F"/>
                </a:solidFill>
                <a:latin typeface="Inter"/>
              </a:rPr>
              <a:t>qué</a:t>
            </a:r>
            <a:r>
              <a:rPr sz="1600" b="1" dirty="0">
                <a:solidFill>
                  <a:srgbClr val="0A1A2F"/>
                </a:solidFill>
                <a:latin typeface="Inter"/>
              </a:rPr>
              <a:t> no se ha </a:t>
            </a:r>
            <a:r>
              <a:rPr lang="es-MX" sz="1600" b="1" dirty="0">
                <a:solidFill>
                  <a:srgbClr val="0A1A2F"/>
                </a:solidFill>
                <a:latin typeface="Inter"/>
              </a:rPr>
              <a:t>implementado</a:t>
            </a:r>
            <a:r>
              <a:rPr sz="1600" b="1" dirty="0">
                <a:solidFill>
                  <a:srgbClr val="0A1A2F"/>
                </a:solidFill>
                <a:latin typeface="Inter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6200" y="407670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dirty="0" err="1">
                <a:solidFill>
                  <a:srgbClr val="4E6572"/>
                </a:solidFill>
                <a:latin typeface="Inter"/>
              </a:rPr>
              <a:t>tiempo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,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aprobación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,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método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, </a:t>
            </a:r>
            <a:r>
              <a:rPr lang="es-MX" sz="1400" dirty="0">
                <a:solidFill>
                  <a:srgbClr val="4E6572"/>
                </a:solidFill>
                <a:latin typeface="Inter"/>
              </a:rPr>
              <a:t>presupuesto, nunca la expusiste formalmente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07500" y="30162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7500" y="3479800"/>
            <a:ext cx="2120900" cy="546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0A1A2F"/>
                </a:solidFill>
                <a:latin typeface="Inter"/>
              </a:rPr>
              <a:t>¿</a:t>
            </a:r>
            <a:r>
              <a:rPr lang="es-MX" sz="1600" b="1" dirty="0">
                <a:solidFill>
                  <a:srgbClr val="0A1A2F"/>
                </a:solidFill>
                <a:latin typeface="Inter"/>
              </a:rPr>
              <a:t>HOY  </a:t>
            </a:r>
            <a:r>
              <a:rPr sz="1600" b="1" dirty="0" err="1">
                <a:solidFill>
                  <a:srgbClr val="0A1A2F"/>
                </a:solidFill>
                <a:latin typeface="Inter"/>
              </a:rPr>
              <a:t>Qué</a:t>
            </a:r>
            <a:r>
              <a:rPr lang="es-MX" sz="1600" b="1" dirty="0">
                <a:solidFill>
                  <a:srgbClr val="0A1A2F"/>
                </a:solidFill>
                <a:latin typeface="Inter"/>
              </a:rPr>
              <a:t> podrías mejorar con la </a:t>
            </a:r>
            <a:r>
              <a:rPr sz="1600" b="1" dirty="0">
                <a:solidFill>
                  <a:srgbClr val="0A1A2F"/>
                </a:solidFill>
                <a:latin typeface="Inter"/>
              </a:rPr>
              <a:t> IA?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7500" y="407670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>
                <a:solidFill>
                  <a:srgbClr val="4E6572"/>
                </a:solidFill>
                <a:latin typeface="Inter"/>
              </a:rPr>
              <a:t>un proceso, una decisión, un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52150" y="1117600"/>
            <a:ext cx="7302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/>
            <a:r>
              <a:rPr sz="1000" b="1" spc="50">
                <a:solidFill>
                  <a:srgbClr val="4E6572"/>
                </a:solidFill>
                <a:latin typeface="Inter"/>
              </a:rPr>
              <a:t>10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9600" y="406400"/>
            <a:ext cx="11239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Reflexión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82704" y="1103952"/>
            <a:ext cx="2467971" cy="7457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609600" y="1250950"/>
            <a:ext cx="8502650" cy="1733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150"/>
              </a:lnSpc>
            </a:pPr>
            <a:r>
              <a:rPr lang="es-MX" sz="5600" spc="-50" dirty="0">
                <a:solidFill>
                  <a:srgbClr val="24340A"/>
                </a:solidFill>
                <a:latin typeface="Anton"/>
              </a:rPr>
              <a:t>Una</a:t>
            </a:r>
            <a:r>
              <a:rPr sz="5600" b="0" spc="-50" dirty="0">
                <a:solidFill>
                  <a:srgbClr val="24340A"/>
                </a:solidFill>
                <a:latin typeface="Anton"/>
              </a:rPr>
              <a:t> IDEA </a:t>
            </a:r>
            <a:r>
              <a:rPr lang="es-MX" sz="5600" b="0" spc="-50" dirty="0">
                <a:solidFill>
                  <a:srgbClr val="24340A"/>
                </a:solidFill>
                <a:latin typeface="Anton"/>
              </a:rPr>
              <a:t>de mejora</a:t>
            </a:r>
            <a:r>
              <a:rPr sz="5600" b="0" spc="-50" dirty="0">
                <a:solidFill>
                  <a:srgbClr val="24340A"/>
                </a:solidFill>
                <a:latin typeface="Anton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3860800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 dirty="0">
                <a:solidFill>
                  <a:srgbClr val="4E6572"/>
                </a:solidFill>
                <a:latin typeface="Inter"/>
              </a:rPr>
              <a:t>Antes,</a:t>
            </a:r>
            <a:r>
              <a:rPr lang="es-MX" sz="1600" b="0" dirty="0">
                <a:solidFill>
                  <a:srgbClr val="4E6572"/>
                </a:solidFill>
                <a:latin typeface="Inter"/>
              </a:rPr>
              <a:t> El Juego era control, y liderazgo con gente</a:t>
            </a:r>
            <a:endParaRPr sz="16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92800" y="3727450"/>
            <a:ext cx="406400" cy="901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51600" y="3727450"/>
            <a:ext cx="4826000" cy="901700"/>
          </a:xfrm>
          <a:prstGeom prst="roundRect">
            <a:avLst>
              <a:gd name="adj" fmla="val 9859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 dirty="0">
                <a:solidFill>
                  <a:srgbClr val="072835"/>
                </a:solidFill>
                <a:latin typeface="Inter"/>
              </a:rPr>
              <a:t>Hoy, 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más contribución, más eficiencia, más rentabilidad.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4914900"/>
            <a:ext cx="482600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 dirty="0">
                <a:solidFill>
                  <a:srgbClr val="4E6572"/>
                </a:solidFill>
                <a:latin typeface="Inter"/>
              </a:rPr>
              <a:t>Antes, </a:t>
            </a:r>
            <a:r>
              <a:rPr sz="1600" b="0" dirty="0" err="1">
                <a:solidFill>
                  <a:srgbClr val="4E6572"/>
                </a:solidFill>
                <a:latin typeface="Inter"/>
              </a:rPr>
              <a:t>más</a:t>
            </a:r>
            <a:r>
              <a:rPr sz="1600" b="0" dirty="0">
                <a:solidFill>
                  <a:srgbClr val="4E6572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4E6572"/>
                </a:solidFill>
                <a:latin typeface="Inter"/>
              </a:rPr>
              <a:t>gente</a:t>
            </a:r>
            <a:r>
              <a:rPr lang="es-MX" sz="1600" b="0" dirty="0">
                <a:solidFill>
                  <a:srgbClr val="4E6572"/>
                </a:solidFill>
                <a:latin typeface="Inter"/>
              </a:rPr>
              <a:t>, </a:t>
            </a:r>
            <a:r>
              <a:rPr sz="1600" b="0" dirty="0" err="1">
                <a:solidFill>
                  <a:srgbClr val="4E6572"/>
                </a:solidFill>
                <a:latin typeface="Inter"/>
              </a:rPr>
              <a:t>más control,</a:t>
            </a:r>
            <a:r>
              <a:rPr lang="es-MX" sz="1600" b="0" dirty="0">
                <a:solidFill>
                  <a:srgbClr val="4E6572"/>
                </a:solidFill>
                <a:latin typeface="Inter"/>
              </a:rPr>
              <a:t> más</a:t>
            </a:r>
            <a:r>
              <a:rPr sz="1600" b="0" dirty="0">
                <a:solidFill>
                  <a:srgbClr val="4E6572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4E6572"/>
                </a:solidFill>
                <a:latin typeface="Inter"/>
              </a:rPr>
              <a:t>poder</a:t>
            </a:r>
            <a:r>
              <a:rPr lang="es-MX" sz="1600" b="0" dirty="0">
                <a:solidFill>
                  <a:srgbClr val="4E6572"/>
                </a:solidFill>
                <a:latin typeface="Inter"/>
              </a:rPr>
              <a:t> organizacional</a:t>
            </a:r>
            <a:endParaRPr sz="16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92800" y="4781550"/>
            <a:ext cx="406400" cy="9017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51600" y="4781550"/>
            <a:ext cx="4826000" cy="901700"/>
          </a:xfrm>
          <a:prstGeom prst="roundRect">
            <a:avLst>
              <a:gd name="adj" fmla="val 9859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dirty="0">
                <a:solidFill>
                  <a:srgbClr val="072835"/>
                </a:solidFill>
                <a:latin typeface="Inter"/>
              </a:rPr>
              <a:t>Mientras más contribuyas en el valor más poder organizacional generas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406400"/>
            <a:ext cx="18605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Cambio de métrica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51600" y="1899929"/>
            <a:ext cx="4757003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28300" y="1016616"/>
            <a:ext cx="10586492" cy="15360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4400" b="0" spc="-50" dirty="0">
                <a:solidFill>
                  <a:srgbClr val="0A1A2F"/>
                </a:solidFill>
                <a:latin typeface="Anton"/>
              </a:rPr>
              <a:t>NUEVO LIDERAZGO: </a:t>
            </a:r>
            <a:endParaRPr lang="es-MX" sz="4400" b="0" spc="-50" dirty="0">
              <a:solidFill>
                <a:srgbClr val="0A1A2F"/>
              </a:solidFill>
              <a:latin typeface="Anton"/>
            </a:endParaRPr>
          </a:p>
          <a:p>
            <a:pPr algn="l">
              <a:lnSpc>
                <a:spcPts val="8050"/>
              </a:lnSpc>
            </a:pPr>
            <a:r>
              <a:rPr sz="7200" b="0" spc="-50" dirty="0">
                <a:solidFill>
                  <a:srgbClr val="0A1A2F"/>
                </a:solidFill>
                <a:latin typeface="Anton"/>
              </a:rPr>
              <a:t>DE</a:t>
            </a:r>
            <a:r>
              <a:rPr lang="es-MX" sz="7200" b="0" spc="-50" dirty="0">
                <a:solidFill>
                  <a:srgbClr val="0A1A2F"/>
                </a:solidFill>
                <a:latin typeface="Anton"/>
              </a:rPr>
              <a:t>  </a:t>
            </a:r>
            <a:r>
              <a:rPr lang="es-MX" sz="1400" b="0" spc="-50" dirty="0">
                <a:solidFill>
                  <a:srgbClr val="0A1A2F"/>
                </a:solidFill>
                <a:latin typeface="Anton"/>
              </a:rPr>
              <a:t> </a:t>
            </a:r>
            <a:r>
              <a:rPr sz="7200" b="0" spc="-50" dirty="0">
                <a:solidFill>
                  <a:srgbClr val="0A1A2F"/>
                </a:solidFill>
                <a:latin typeface="Anton"/>
              </a:rPr>
              <a:t>TAMAÑO A</a:t>
            </a:r>
            <a:r>
              <a:rPr lang="es-MX" sz="7200" b="0" spc="-50" dirty="0">
                <a:solidFill>
                  <a:srgbClr val="0A1A2F"/>
                </a:solidFill>
                <a:latin typeface="Anton"/>
              </a:rPr>
              <a:t>  </a:t>
            </a:r>
            <a:r>
              <a:rPr sz="7200" b="0" spc="-50" dirty="0">
                <a:solidFill>
                  <a:srgbClr val="0A1A2F"/>
                </a:solidFill>
                <a:latin typeface="Anton"/>
              </a:rPr>
              <a:t> CONTRIBUCIÓN</a:t>
            </a:r>
            <a:r>
              <a:rPr sz="8800" b="0" spc="-50" dirty="0">
                <a:solidFill>
                  <a:srgbClr val="0A1A2F"/>
                </a:solidFill>
                <a:latin typeface="Anton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52950"/>
            <a:ext cx="6337300" cy="16031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dirty="0">
                <a:solidFill>
                  <a:srgbClr val="072835"/>
                </a:solidFill>
                <a:latin typeface="Inter"/>
              </a:rPr>
              <a:t>Tú eres parte del equipo de poder de tu empresa</a:t>
            </a:r>
          </a:p>
          <a:p>
            <a:pPr algn="l"/>
            <a:r>
              <a:rPr lang="es-MX" sz="1800" b="0" dirty="0">
                <a:solidFill>
                  <a:srgbClr val="072835"/>
                </a:solidFill>
                <a:latin typeface="Inter"/>
              </a:rPr>
              <a:t>Tu rol es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prepararte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para un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futuro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que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ya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llegó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. </a:t>
            </a:r>
            <a:endParaRPr lang="es-MX" sz="1800" b="0" dirty="0">
              <a:solidFill>
                <a:srgbClr val="072835"/>
              </a:solidFill>
              <a:latin typeface="Inter"/>
            </a:endParaRPr>
          </a:p>
          <a:p>
            <a:pPr algn="l"/>
            <a:r>
              <a:rPr sz="1800" b="0" dirty="0">
                <a:solidFill>
                  <a:srgbClr val="072835"/>
                </a:solidFill>
                <a:latin typeface="Inter"/>
              </a:rPr>
              <a:t>Eso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te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pone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en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el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 momento de liderazgo</a:t>
            </a:r>
            <a:r>
              <a:rPr lang="es-MX" dirty="0">
                <a:solidFill>
                  <a:srgbClr val="072835"/>
                </a:solidFill>
                <a:latin typeface="Inter"/>
              </a:rPr>
              <a:t> </a:t>
            </a:r>
            <a:endParaRPr lang="es-MX" sz="1800" b="0" dirty="0">
              <a:solidFill>
                <a:srgbClr val="072835"/>
              </a:solidFill>
              <a:latin typeface="Inter"/>
            </a:endParaRPr>
          </a:p>
          <a:p>
            <a:pPr algn="l"/>
            <a:endParaRPr lang="es-MX" dirty="0">
              <a:solidFill>
                <a:srgbClr val="072835"/>
              </a:solidFill>
              <a:latin typeface="Inter"/>
            </a:endParaRPr>
          </a:p>
          <a:p>
            <a:pPr algn="l"/>
            <a:r>
              <a:rPr sz="1800" b="0" dirty="0">
                <a:solidFill>
                  <a:srgbClr val="072835"/>
                </a:solidFill>
                <a:latin typeface="Inter"/>
              </a:rPr>
              <a:t> ¿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Qué vas a hacer?, 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¿Cuánto vas TU A INVERTIR EN TI?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6400"/>
            <a:ext cx="16891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Equipo de poder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95300" y="3143250"/>
            <a:ext cx="601980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1183846"/>
            <a:ext cx="6610350" cy="30128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6600" b="0" spc="-50" dirty="0">
                <a:solidFill>
                  <a:srgbClr val="0A1A2F"/>
                </a:solidFill>
                <a:latin typeface="Anton"/>
              </a:rPr>
              <a:t>TU LÍDER</a:t>
            </a:r>
            <a:br>
              <a:rPr sz="1200" dirty="0"/>
            </a:br>
            <a:r>
              <a:rPr sz="6600" b="0" spc="-50" dirty="0">
                <a:solidFill>
                  <a:srgbClr val="0A1A2F"/>
                </a:solidFill>
                <a:latin typeface="Anton"/>
              </a:rPr>
              <a:t>DECIDIÓ</a:t>
            </a:r>
            <a:br>
              <a:rPr sz="1200" dirty="0"/>
            </a:br>
            <a:r>
              <a:rPr sz="6600" b="0" spc="-50" dirty="0">
                <a:solidFill>
                  <a:srgbClr val="0A1A2F"/>
                </a:solidFill>
                <a:latin typeface="Anton"/>
              </a:rPr>
              <a:t>INVERTIR EN TI.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942987"/>
            <a:ext cx="9525000" cy="15812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0" dirty="0">
                <a:solidFill>
                  <a:srgbClr val="F5F8FB"/>
                </a:solidFill>
                <a:latin typeface="Inter"/>
              </a:rPr>
              <a:t>¿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Qué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vas a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dar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?</a:t>
            </a:r>
            <a:endParaRPr lang="es-MX" sz="3200" b="0" dirty="0">
              <a:solidFill>
                <a:srgbClr val="F5F8FB"/>
              </a:solidFill>
              <a:latin typeface="Inter"/>
            </a:endParaRPr>
          </a:p>
          <a:p>
            <a:pPr algn="l"/>
            <a:r>
              <a:rPr lang="es-MX" sz="3200" dirty="0">
                <a:solidFill>
                  <a:srgbClr val="F5F8FB"/>
                </a:solidFill>
                <a:latin typeface="Inter"/>
              </a:rPr>
              <a:t>¿Cuánto vas a contribuir?</a:t>
            </a:r>
            <a:endParaRPr lang="es-MX" sz="3200" b="0" dirty="0">
              <a:solidFill>
                <a:srgbClr val="F5F8FB"/>
              </a:solidFill>
              <a:latin typeface="Inter"/>
            </a:endParaRPr>
          </a:p>
          <a:p>
            <a:pPr algn="l"/>
            <a:r>
              <a:rPr sz="3200" b="0" dirty="0">
                <a:solidFill>
                  <a:srgbClr val="F5F8FB"/>
                </a:solidFill>
                <a:latin typeface="Inter"/>
              </a:rPr>
              <a:t>¿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Qué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vas a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lograr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</a:t>
            </a:r>
            <a:r>
              <a:rPr lang="es-MX" sz="3200" b="0" dirty="0">
                <a:solidFill>
                  <a:srgbClr val="F5F8FB"/>
                </a:solidFill>
                <a:latin typeface="Inter"/>
              </a:rPr>
              <a:t>en tu área 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antes de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terminar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este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 </a:t>
            </a:r>
            <a:r>
              <a:rPr sz="3200" b="0" dirty="0" err="1">
                <a:solidFill>
                  <a:srgbClr val="F5F8FB"/>
                </a:solidFill>
                <a:latin typeface="Inter"/>
              </a:rPr>
              <a:t>año</a:t>
            </a:r>
            <a:r>
              <a:rPr sz="3200" b="0" dirty="0">
                <a:solidFill>
                  <a:srgbClr val="F5F8FB"/>
                </a:solidFill>
                <a:latin typeface="Inter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5122744"/>
            <a:ext cx="76200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dirty="0">
                <a:solidFill>
                  <a:srgbClr val="93A3B5"/>
                </a:solidFill>
                <a:latin typeface="Inter"/>
              </a:rPr>
              <a:t>— Roberto Martínez Ortiz, </a:t>
            </a:r>
            <a:r>
              <a:rPr sz="1400" b="0" dirty="0" err="1">
                <a:solidFill>
                  <a:srgbClr val="93A3B5"/>
                </a:solidFill>
                <a:latin typeface="Inter"/>
              </a:rPr>
              <a:t>sobre</a:t>
            </a:r>
            <a:r>
              <a:rPr sz="1400" b="0" dirty="0">
                <a:solidFill>
                  <a:srgbClr val="93A3B5"/>
                </a:solidFill>
                <a:latin typeface="Inter"/>
              </a:rPr>
              <a:t> las </a:t>
            </a:r>
            <a:r>
              <a:rPr sz="1400" b="0" dirty="0" err="1">
                <a:solidFill>
                  <a:srgbClr val="93A3B5"/>
                </a:solidFill>
                <a:latin typeface="Inter"/>
              </a:rPr>
              <a:t>acciones</a:t>
            </a:r>
            <a:r>
              <a:rPr sz="1400" b="0" dirty="0">
                <a:solidFill>
                  <a:srgbClr val="93A3B5"/>
                </a:solidFill>
                <a:latin typeface="Inter"/>
              </a:rPr>
              <a:t> de </a:t>
            </a:r>
            <a:r>
              <a:rPr sz="1400" b="0" dirty="0" err="1">
                <a:solidFill>
                  <a:srgbClr val="93A3B5"/>
                </a:solidFill>
                <a:latin typeface="Inter"/>
              </a:rPr>
              <a:t>abundancia</a:t>
            </a:r>
            <a:endParaRPr sz="1400" b="0" dirty="0">
              <a:solidFill>
                <a:srgbClr val="93A3B5"/>
              </a:solidFill>
              <a:latin typeface="Inte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6400"/>
            <a:ext cx="2101850" cy="311150"/>
          </a:xfrm>
          <a:prstGeom prst="roundRect">
            <a:avLst>
              <a:gd name="adj" fmla="val 50000"/>
            </a:avLst>
          </a:prstGeom>
          <a:solidFill>
            <a:srgbClr val="22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Compromiso 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3600" y="23685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600" y="2832100"/>
            <a:ext cx="21209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dirty="0" err="1">
                <a:solidFill>
                  <a:srgbClr val="0A1A2F"/>
                </a:solidFill>
                <a:latin typeface="Inter"/>
              </a:rPr>
              <a:t>Revisa</a:t>
            </a:r>
            <a:r>
              <a:rPr lang="es-MX" sz="1600" b="1" dirty="0">
                <a:solidFill>
                  <a:srgbClr val="0A1A2F"/>
                </a:solidFill>
                <a:latin typeface="Inter"/>
              </a:rPr>
              <a:t> detalladamente tu IDEA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3600" y="344805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400" b="0" dirty="0">
                <a:solidFill>
                  <a:srgbClr val="4E6572"/>
                </a:solidFill>
                <a:latin typeface="Inter"/>
              </a:rPr>
              <a:t>Lee lo que escribiste, que puedes mejorar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44900" y="23685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4900" y="2832100"/>
            <a:ext cx="21209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dirty="0">
                <a:solidFill>
                  <a:srgbClr val="0A1A2F"/>
                </a:solidFill>
                <a:latin typeface="Inter"/>
              </a:rPr>
              <a:t>Red</a:t>
            </a:r>
            <a:r>
              <a:rPr lang="es-MX" sz="1600" b="1" dirty="0">
                <a:solidFill>
                  <a:srgbClr val="0A1A2F"/>
                </a:solidFill>
                <a:latin typeface="Inter"/>
              </a:rPr>
              <a:t>ú</a:t>
            </a:r>
            <a:r>
              <a:rPr sz="1600" b="1" dirty="0" err="1">
                <a:solidFill>
                  <a:srgbClr val="0A1A2F"/>
                </a:solidFill>
                <a:latin typeface="Inter"/>
              </a:rPr>
              <a:t>ce</a:t>
            </a:r>
            <a:r>
              <a:rPr lang="es-MX" sz="1600" b="1" dirty="0">
                <a:solidFill>
                  <a:srgbClr val="0A1A2F"/>
                </a:solidFill>
                <a:latin typeface="Inter"/>
              </a:rPr>
              <a:t>la a una FRASE CORTA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36749" y="342900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400" b="0" dirty="0">
                <a:solidFill>
                  <a:srgbClr val="4E6572"/>
                </a:solidFill>
                <a:latin typeface="Inter"/>
              </a:rPr>
              <a:t>¿Qué proceso mejora?</a:t>
            </a:r>
          </a:p>
          <a:p>
            <a:pPr algn="l"/>
            <a:r>
              <a:rPr lang="es-MX" sz="1400" dirty="0">
                <a:solidFill>
                  <a:srgbClr val="4E6572"/>
                </a:solidFill>
                <a:latin typeface="Inter"/>
              </a:rPr>
              <a:t>¿Qué área Impacta?</a:t>
            </a:r>
          </a:p>
          <a:p>
            <a:pPr algn="l"/>
            <a:r>
              <a:rPr lang="es-MX" sz="1400" b="0" dirty="0">
                <a:solidFill>
                  <a:srgbClr val="4E6572"/>
                </a:solidFill>
                <a:latin typeface="Inter"/>
              </a:rPr>
              <a:t>¿Qué resultado Genera?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6200" y="23685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6200" y="2832100"/>
            <a:ext cx="21209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1" dirty="0">
                <a:solidFill>
                  <a:srgbClr val="0A1A2F"/>
                </a:solidFill>
                <a:latin typeface="Inter"/>
              </a:rPr>
              <a:t>Dale un Título a tu proyecto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9898" y="342900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400" b="0" dirty="0">
                <a:solidFill>
                  <a:srgbClr val="4E6572"/>
                </a:solidFill>
                <a:latin typeface="Inter"/>
              </a:rPr>
              <a:t>Sé claro, y conciso, que cualquier miembro de la organización le entienda al leerlo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07500" y="23685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7500" y="2832100"/>
            <a:ext cx="21209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A1A2F"/>
                </a:solidFill>
                <a:latin typeface="Inter"/>
              </a:rPr>
              <a:t>Ejemplos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7500" y="317500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dirty="0" err="1">
                <a:solidFill>
                  <a:srgbClr val="4E6572"/>
                </a:solidFill>
                <a:latin typeface="Inter"/>
              </a:rPr>
              <a:t>automatización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de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nómina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,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tablero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de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ventas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,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planea</a:t>
            </a:r>
            <a:r>
              <a:rPr lang="es-MX" sz="1400" b="0" dirty="0" err="1">
                <a:solidFill>
                  <a:srgbClr val="4E6572"/>
                </a:solidFill>
                <a:latin typeface="Inter"/>
              </a:rPr>
              <a:t>dor</a:t>
            </a:r>
            <a:r>
              <a:rPr lang="es-MX" sz="1400" b="0" dirty="0">
                <a:solidFill>
                  <a:srgbClr val="4E6572"/>
                </a:solidFill>
                <a:latin typeface="Inter"/>
              </a:rPr>
              <a:t> automático de compras, generador de indicadores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915650" y="1117600"/>
            <a:ext cx="6667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/>
            <a:r>
              <a:rPr sz="1000" b="1" spc="50">
                <a:solidFill>
                  <a:srgbClr val="4E6572"/>
                </a:solidFill>
                <a:latin typeface="Inter"/>
              </a:rPr>
              <a:t>5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9600" y="406400"/>
            <a:ext cx="18796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De idea a proyecto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1098550"/>
            <a:ext cx="2343150" cy="679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" y="1250950"/>
            <a:ext cx="8502650" cy="1079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150"/>
              </a:lnSpc>
            </a:pPr>
            <a:r>
              <a:rPr sz="5600" b="0" spc="-50">
                <a:solidFill>
                  <a:srgbClr val="24340A"/>
                </a:solidFill>
                <a:latin typeface="Anton"/>
              </a:rPr>
              <a:t>PONLE </a:t>
            </a:r>
            <a:r>
              <a:rPr sz="5600" b="0" spc="-50">
                <a:solidFill>
                  <a:srgbClr val="0A1A2F"/>
                </a:solidFill>
                <a:latin typeface="Anton"/>
              </a:rPr>
              <a:t>NOMBRE</a:t>
            </a:r>
            <a:r>
              <a:rPr sz="5600" b="0" spc="-50">
                <a:solidFill>
                  <a:srgbClr val="24340A"/>
                </a:solidFill>
                <a:latin typeface="Anton"/>
              </a:rPr>
              <a:t> A TU PROYECTO.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67018"/>
            <a:ext cx="6007100" cy="2622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lang="es-MX" dirty="0">
                <a:solidFill>
                  <a:srgbClr val="072835"/>
                </a:solidFill>
                <a:latin typeface="Inter"/>
              </a:rPr>
              <a:t>1.-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Falta de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aprobación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2.-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Falta de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alineación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entre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equipos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3.-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La idea no se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vendió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bien</a:t>
            </a: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4.-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Sin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presupuesto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ni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análisis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financiero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5.- 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Sin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una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metodología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de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decisión</a:t>
            </a:r>
            <a:endParaRPr sz="18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6400"/>
            <a:ext cx="21907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Fricción organizacional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232037" y="1876566"/>
            <a:ext cx="2038825" cy="650733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495550"/>
            <a:ext cx="4184650" cy="73025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1216025"/>
            <a:ext cx="5798024" cy="22129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500"/>
              </a:lnSpc>
            </a:pPr>
            <a:r>
              <a:rPr sz="4400" b="0" spc="-50" dirty="0">
                <a:solidFill>
                  <a:srgbClr val="0A1A2F"/>
                </a:solidFill>
                <a:latin typeface="Anton"/>
              </a:rPr>
              <a:t>¿POR QUÉ LAS</a:t>
            </a:r>
            <a:r>
              <a:rPr lang="es-MX" sz="1200" b="0" spc="-50" dirty="0">
                <a:solidFill>
                  <a:srgbClr val="0A1A2F"/>
                </a:solidFill>
                <a:latin typeface="Anton"/>
              </a:rPr>
              <a:t>  </a:t>
            </a:r>
            <a:r>
              <a:rPr sz="4400" b="0" spc="-50" dirty="0">
                <a:solidFill>
                  <a:srgbClr val="0A1A2F"/>
                </a:solidFill>
                <a:latin typeface="Anton"/>
              </a:rPr>
              <a:t>GRANDES </a:t>
            </a:r>
            <a:r>
              <a:rPr lang="es-MX" sz="4400" b="0" spc="-50" dirty="0">
                <a:solidFill>
                  <a:srgbClr val="0A1A2F"/>
                </a:solidFill>
                <a:latin typeface="Anton"/>
              </a:rPr>
              <a:t>en las EMPRESAS </a:t>
            </a:r>
            <a:r>
              <a:rPr sz="4400" b="0" spc="-50" dirty="0">
                <a:solidFill>
                  <a:srgbClr val="0A1A2F"/>
                </a:solidFill>
                <a:latin typeface="Anton"/>
              </a:rPr>
              <a:t>NO </a:t>
            </a:r>
            <a:r>
              <a:rPr lang="es-MX" sz="4400" spc="-50" dirty="0">
                <a:solidFill>
                  <a:srgbClr val="0A1A2F"/>
                </a:solidFill>
                <a:latin typeface="Anton"/>
              </a:rPr>
              <a:t>SIEMPRE </a:t>
            </a:r>
            <a:r>
              <a:rPr sz="4400" b="0" spc="-50" dirty="0">
                <a:solidFill>
                  <a:srgbClr val="0A1A2F"/>
                </a:solidFill>
                <a:latin typeface="Anton"/>
              </a:rPr>
              <a:t>SE</a:t>
            </a:r>
            <a:r>
              <a:rPr lang="es-MX" sz="1200" b="0" spc="-50" dirty="0">
                <a:solidFill>
                  <a:srgbClr val="0A1A2F"/>
                </a:solidFill>
                <a:latin typeface="Anton"/>
              </a:rPr>
              <a:t>   </a:t>
            </a:r>
            <a:r>
              <a:rPr sz="4400" b="0" spc="-50" dirty="0">
                <a:solidFill>
                  <a:srgbClr val="0A1A2F"/>
                </a:solidFill>
                <a:latin typeface="Anton"/>
              </a:rPr>
              <a:t>IMPLEMENTAN?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3222" y="3236180"/>
            <a:ext cx="4515135" cy="1022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800" b="0" dirty="0">
                <a:solidFill>
                  <a:srgbClr val="072835"/>
                </a:solidFill>
                <a:latin typeface="Inter"/>
              </a:rPr>
              <a:t>95% 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de las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empresas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que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evalúan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una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solución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de IA 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no producen un impacto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lang="es-MX" dirty="0" err="1">
                <a:solidFill>
                  <a:srgbClr val="072835"/>
                </a:solidFill>
                <a:latin typeface="Inter"/>
              </a:rPr>
              <a:t>financiero</a:t>
            </a:r>
            <a:r>
              <a:rPr lang="es-MX" dirty="0">
                <a:solidFill>
                  <a:srgbClr val="072835"/>
                </a:solidFill>
                <a:latin typeface="Inter"/>
              </a:rPr>
              <a:t> medible</a:t>
            </a:r>
          </a:p>
          <a:p>
            <a:pPr algn="l"/>
            <a:r>
              <a:rPr sz="1800" b="0" dirty="0">
                <a:solidFill>
                  <a:srgbClr val="072835"/>
                </a:solidFill>
                <a:latin typeface="Inter"/>
              </a:rPr>
              <a:t>La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razón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no es la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tecnología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es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:</a:t>
            </a:r>
          </a:p>
          <a:p>
            <a:pPr algn="l"/>
            <a:endParaRPr lang="es-MX" sz="1800" b="0" dirty="0">
              <a:solidFill>
                <a:srgbClr val="072835"/>
              </a:solidFill>
              <a:latin typeface="Inter"/>
            </a:endParaRPr>
          </a:p>
          <a:p>
            <a:pPr algn="l"/>
            <a:r>
              <a:rPr lang="es-MX" sz="1800" b="1" dirty="0">
                <a:solidFill>
                  <a:srgbClr val="072835"/>
                </a:solidFill>
                <a:latin typeface="Inter"/>
              </a:rPr>
              <a:t>1.-</a:t>
            </a:r>
            <a:r>
              <a:rPr sz="1800" b="1" dirty="0">
                <a:solidFill>
                  <a:srgbClr val="072835"/>
                </a:solidFill>
                <a:latin typeface="Inter"/>
              </a:rPr>
              <a:t> </a:t>
            </a:r>
            <a:r>
              <a:rPr lang="es-MX" b="1" dirty="0">
                <a:solidFill>
                  <a:srgbClr val="072835"/>
                </a:solidFill>
                <a:latin typeface="Inter"/>
              </a:rPr>
              <a:t>M</a:t>
            </a:r>
            <a:r>
              <a:rPr sz="1800" b="1" dirty="0" err="1">
                <a:solidFill>
                  <a:srgbClr val="072835"/>
                </a:solidFill>
                <a:latin typeface="Inter"/>
              </a:rPr>
              <a:t>étodo</a:t>
            </a:r>
            <a:r>
              <a:rPr lang="es-MX" sz="1800" b="1" dirty="0">
                <a:solidFill>
                  <a:srgbClr val="072835"/>
                </a:solidFill>
                <a:latin typeface="Inter"/>
              </a:rPr>
              <a:t> 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medible y estructurado de evaluación y selección de proyectos</a:t>
            </a:r>
          </a:p>
          <a:p>
            <a:pPr algn="l"/>
            <a:r>
              <a:rPr lang="es-MX" sz="1800" b="1" dirty="0">
                <a:solidFill>
                  <a:srgbClr val="072835"/>
                </a:solidFill>
                <a:latin typeface="Inter"/>
              </a:rPr>
              <a:t>2.-</a:t>
            </a:r>
            <a:r>
              <a:rPr lang="es-MX" b="1" dirty="0">
                <a:solidFill>
                  <a:srgbClr val="072835"/>
                </a:solidFill>
                <a:latin typeface="Inter"/>
              </a:rPr>
              <a:t> E</a:t>
            </a:r>
            <a:r>
              <a:rPr sz="1800" b="1" dirty="0" err="1">
                <a:solidFill>
                  <a:srgbClr val="072835"/>
                </a:solidFill>
                <a:latin typeface="Inter"/>
              </a:rPr>
              <a:t>quipo</a:t>
            </a:r>
            <a:r>
              <a:rPr lang="es-MX" sz="1800" b="1" dirty="0">
                <a:solidFill>
                  <a:srgbClr val="072835"/>
                </a:solidFill>
                <a:latin typeface="Inter"/>
              </a:rPr>
              <a:t> 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capacitado para ejecutar con criterio</a:t>
            </a:r>
          </a:p>
          <a:p>
            <a:pPr algn="l"/>
            <a:r>
              <a:rPr lang="es-MX" b="1" dirty="0">
                <a:solidFill>
                  <a:srgbClr val="072835"/>
                </a:solidFill>
                <a:latin typeface="Inter"/>
              </a:rPr>
              <a:t>3.- V</a:t>
            </a:r>
            <a:r>
              <a:rPr sz="1800" b="1" dirty="0" err="1">
                <a:solidFill>
                  <a:srgbClr val="072835"/>
                </a:solidFill>
                <a:latin typeface="Inter"/>
              </a:rPr>
              <a:t>isión</a:t>
            </a:r>
            <a:r>
              <a:rPr lang="es-MX" sz="1800" b="1" dirty="0">
                <a:solidFill>
                  <a:srgbClr val="072835"/>
                </a:solidFill>
                <a:latin typeface="Inter"/>
              </a:rPr>
              <a:t> 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clara del problema a resolver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5600" y="3751997"/>
            <a:ext cx="2389116" cy="11366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0200"/>
              </a:lnSpc>
            </a:pPr>
            <a:r>
              <a:rPr sz="9600" b="0" spc="-200" dirty="0">
                <a:solidFill>
                  <a:srgbClr val="006E96"/>
                </a:solidFill>
                <a:latin typeface="Anton"/>
              </a:rPr>
              <a:t>5%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6400"/>
            <a:ext cx="25908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Realidad de implementación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99" y="1461353"/>
            <a:ext cx="5471047" cy="73025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7104" y="833558"/>
            <a:ext cx="6469039" cy="13580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500"/>
              </a:lnSpc>
            </a:pPr>
            <a:r>
              <a:rPr sz="4400" b="0" spc="-50" dirty="0">
                <a:solidFill>
                  <a:srgbClr val="0A1A2F"/>
                </a:solidFill>
                <a:latin typeface="Anton"/>
              </a:rPr>
              <a:t>EL DATO INCÓMODO:</a:t>
            </a:r>
            <a:br>
              <a:rPr sz="1200" dirty="0"/>
            </a:br>
            <a:r>
              <a:rPr sz="4400" b="0" spc="-50" dirty="0">
                <a:solidFill>
                  <a:srgbClr val="0A1A2F"/>
                </a:solidFill>
                <a:latin typeface="Anton"/>
              </a:rPr>
              <a:t>CASI NADA LLEGA A</a:t>
            </a:r>
            <a:r>
              <a:rPr lang="es-MX" sz="4400" b="0" spc="-50" dirty="0">
                <a:solidFill>
                  <a:srgbClr val="0A1A2F"/>
                </a:solidFill>
                <a:latin typeface="Anton"/>
              </a:rPr>
              <a:t> ÉXITO</a:t>
            </a:r>
            <a:r>
              <a:rPr sz="4400" b="0" spc="-50" dirty="0">
                <a:solidFill>
                  <a:srgbClr val="0A1A2F"/>
                </a:solidFill>
                <a:latin typeface="Anton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362700"/>
            <a:ext cx="10160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/>
            <a:r>
              <a:rPr sz="700" b="0">
                <a:solidFill>
                  <a:srgbClr val="006E96"/>
                </a:solidFill>
                <a:latin typeface="JetBrains Mono"/>
              </a:rPr>
              <a:t>FUENTE   </a:t>
            </a:r>
            <a:r>
              <a:rPr sz="1100" b="0">
                <a:solidFill>
                  <a:srgbClr val="4E6572"/>
                </a:solidFill>
                <a:latin typeface="Inter"/>
              </a:rPr>
              <a:t>MIT Project NANDA, The GenAI Divide (jul-2025)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.jpg"/>
          <p:cNvPicPr>
            <a:picLocks noChangeAspect="1"/>
          </p:cNvPicPr>
          <p:nvPr/>
        </p:nvPicPr>
        <p:blipFill>
          <a:blip r:embed="rId3"/>
          <a:srcRect t="20555"/>
          <a:stretch>
            <a:fillRect/>
          </a:stretch>
        </p:blipFill>
        <p:spPr>
          <a:xfrm>
            <a:off x="0" y="0"/>
            <a:ext cx="12192000" cy="68516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2917825"/>
            <a:ext cx="249555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>
                <a:solidFill>
                  <a:srgbClr val="4E6572"/>
                </a:solidFill>
                <a:latin typeface="Inter"/>
              </a:rPr>
              <a:t>Aprobación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675" y="2917825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 dirty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48150" y="2917825"/>
            <a:ext cx="702945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dirty="0">
                <a:solidFill>
                  <a:srgbClr val="072835"/>
                </a:solidFill>
                <a:latin typeface="Inter"/>
              </a:rPr>
              <a:t>Aprenderás a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presentar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 proyectos de IA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a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 la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dirección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lang="es-MX" sz="1600" dirty="0">
                <a:solidFill>
                  <a:srgbClr val="072835"/>
                </a:solidFill>
                <a:latin typeface="Inter"/>
              </a:rPr>
              <a:t>con el 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lenguaje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 correcto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914400" y="3698875"/>
            <a:ext cx="249555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>
                <a:solidFill>
                  <a:srgbClr val="4E6572"/>
                </a:solidFill>
                <a:latin typeface="Inter"/>
              </a:rPr>
              <a:t>Alineación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675" y="3698875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48150" y="3698875"/>
            <a:ext cx="702945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dirty="0">
                <a:solidFill>
                  <a:srgbClr val="072835"/>
                </a:solidFill>
                <a:latin typeface="Inter"/>
              </a:rPr>
              <a:t>Uso de una 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m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e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todo</a:t>
            </a:r>
            <a:r>
              <a:rPr lang="es-MX" sz="1600" b="0" dirty="0" err="1">
                <a:solidFill>
                  <a:srgbClr val="072835"/>
                </a:solidFill>
                <a:latin typeface="Inter"/>
              </a:rPr>
              <a:t>logía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compartid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a para que todos usen el mismo criterio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4479925"/>
            <a:ext cx="249555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>
                <a:solidFill>
                  <a:srgbClr val="4E6572"/>
                </a:solidFill>
                <a:latin typeface="Inter"/>
              </a:rPr>
              <a:t>Venta de la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675" y="4479925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48150" y="4479925"/>
            <a:ext cx="702945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b="0" dirty="0">
                <a:solidFill>
                  <a:srgbClr val="072835"/>
                </a:solidFill>
                <a:latin typeface="Inter"/>
              </a:rPr>
              <a:t>Cada proyecto debe  explicarse en términos de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problema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,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impacto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y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por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qué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60975"/>
            <a:ext cx="249555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>
                <a:solidFill>
                  <a:srgbClr val="4E6572"/>
                </a:solidFill>
                <a:latin typeface="Inter"/>
              </a:rPr>
              <a:t>Presupuesto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675" y="5260975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8150" y="5260975"/>
            <a:ext cx="702945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b="0" dirty="0">
                <a:solidFill>
                  <a:srgbClr val="072835"/>
                </a:solidFill>
                <a:latin typeface="Inter"/>
              </a:rPr>
              <a:t>Debe crearse un análisis de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inversión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contra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retorno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esperado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14400" y="6042025"/>
            <a:ext cx="2495550" cy="628650"/>
          </a:xfrm>
          <a:prstGeom prst="roundRect">
            <a:avLst>
              <a:gd name="adj" fmla="val 14141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lang="es-MX" sz="1600" b="0" dirty="0">
                <a:solidFill>
                  <a:srgbClr val="4E6572"/>
                </a:solidFill>
                <a:latin typeface="Inter"/>
              </a:rPr>
              <a:t>Metodología de </a:t>
            </a:r>
            <a:r>
              <a:rPr sz="1600" b="0" dirty="0" err="1">
                <a:solidFill>
                  <a:srgbClr val="4E6572"/>
                </a:solidFill>
                <a:latin typeface="Inter"/>
              </a:rPr>
              <a:t>Decisión</a:t>
            </a:r>
            <a:endParaRPr sz="16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49675" y="6042025"/>
            <a:ext cx="4064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0">
                <a:solidFill>
                  <a:srgbClr val="FFB489"/>
                </a:solidFill>
                <a:latin typeface="Anton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8150" y="6042025"/>
            <a:ext cx="7029450" cy="628650"/>
          </a:xfrm>
          <a:prstGeom prst="roundRect">
            <a:avLst>
              <a:gd name="adj" fmla="val 14141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177800" rIns="203200" bIns="177800" rtlCol="0" anchor="ctr">
            <a:noAutofit/>
          </a:bodyPr>
          <a:lstStyle/>
          <a:p>
            <a:pPr algn="l"/>
            <a:r>
              <a:rPr sz="1600" b="0" dirty="0" err="1">
                <a:solidFill>
                  <a:srgbClr val="072835"/>
                </a:solidFill>
                <a:latin typeface="Inter"/>
              </a:rPr>
              <a:t>una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matriz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común</a:t>
            </a:r>
            <a:r>
              <a:rPr sz="1600" b="0" dirty="0">
                <a:solidFill>
                  <a:srgbClr val="072835"/>
                </a:solidFill>
                <a:latin typeface="Inter"/>
              </a:rPr>
              <a:t> para </a:t>
            </a:r>
            <a:r>
              <a:rPr sz="1600" b="0" dirty="0" err="1">
                <a:solidFill>
                  <a:srgbClr val="072835"/>
                </a:solidFill>
                <a:latin typeface="Inter"/>
              </a:rPr>
              <a:t>comparar</a:t>
            </a:r>
            <a:r>
              <a:rPr lang="es-MX" sz="1600" b="0" dirty="0">
                <a:solidFill>
                  <a:srgbClr val="072835"/>
                </a:solidFill>
                <a:latin typeface="Inter"/>
              </a:rPr>
              <a:t> proyectos por impacto, complejidad y probabilidad de éxito</a:t>
            </a:r>
            <a:endParaRPr sz="16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9600" y="406400"/>
            <a:ext cx="20320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De fracaso a método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1976" y="1248354"/>
            <a:ext cx="3197224" cy="904295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600" y="1327150"/>
            <a:ext cx="11341100" cy="1066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6000" b="0" spc="-50" dirty="0">
                <a:solidFill>
                  <a:srgbClr val="0A1A2F"/>
                </a:solidFill>
                <a:latin typeface="Anton"/>
              </a:rPr>
              <a:t>CINCO CAUSAS </a:t>
            </a:r>
            <a:r>
              <a:rPr lang="es-MX" sz="6000" b="0" spc="-50" dirty="0">
                <a:solidFill>
                  <a:srgbClr val="0A1A2F"/>
                </a:solidFill>
                <a:latin typeface="Anton"/>
              </a:rPr>
              <a:t>DE FRACASO </a:t>
            </a:r>
            <a:r>
              <a:rPr lang="es-MX" sz="1100" b="0" spc="-50" dirty="0">
                <a:solidFill>
                  <a:srgbClr val="0A1A2F"/>
                </a:solidFill>
                <a:latin typeface="Anton"/>
              </a:rPr>
              <a:t>  </a:t>
            </a:r>
            <a:r>
              <a:rPr sz="6000" b="0" spc="-50" dirty="0">
                <a:solidFill>
                  <a:srgbClr val="0A1A2F"/>
                </a:solidFill>
                <a:latin typeface="Anton"/>
              </a:rPr>
              <a:t>A PREVENIR.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79200" y="5553075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9800" y="3679825"/>
            <a:ext cx="6007100" cy="2317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1.- Criterios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: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los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factores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que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importan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2.- 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Peso</a:t>
            </a:r>
            <a:r>
              <a:rPr lang="es-MX" sz="1800" b="0" dirty="0">
                <a:solidFill>
                  <a:srgbClr val="072835"/>
                </a:solidFill>
                <a:latin typeface="Inter"/>
              </a:rPr>
              <a:t> ponderado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: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cuánto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importa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cada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uno</a:t>
            </a: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3.-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Calificación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: del 1 al 10,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en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consenso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4.-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Resultado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: la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suma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ponderada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5.-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Selección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: mayor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puntaje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y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viabilidad</a:t>
            </a:r>
            <a:endParaRPr sz="18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6400"/>
            <a:ext cx="21653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Sistema de evaluación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2650" y="1781175"/>
            <a:ext cx="385445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2950" y="860425"/>
            <a:ext cx="6610350" cy="1987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6600" b="0" spc="-50" dirty="0">
                <a:solidFill>
                  <a:srgbClr val="0A1A2F"/>
                </a:solidFill>
                <a:latin typeface="Anton"/>
              </a:rPr>
              <a:t>METODOLOGÍA</a:t>
            </a:r>
            <a:r>
              <a:rPr lang="es-MX" sz="1200" b="0" spc="-50" dirty="0">
                <a:solidFill>
                  <a:srgbClr val="0A1A2F"/>
                </a:solidFill>
                <a:latin typeface="Anton"/>
              </a:rPr>
              <a:t>  </a:t>
            </a:r>
            <a:r>
              <a:rPr sz="6600" b="0" spc="-50" dirty="0">
                <a:solidFill>
                  <a:srgbClr val="0A1A2F"/>
                </a:solidFill>
                <a:latin typeface="Anton"/>
              </a:rPr>
              <a:t>DE TOMA DE</a:t>
            </a:r>
            <a:r>
              <a:rPr lang="es-MX" sz="1200" b="0" spc="-50" dirty="0">
                <a:solidFill>
                  <a:srgbClr val="0A1A2F"/>
                </a:solidFill>
                <a:latin typeface="Anton"/>
              </a:rPr>
              <a:t>  </a:t>
            </a:r>
            <a:r>
              <a:rPr sz="6600" b="0" spc="-50" dirty="0">
                <a:solidFill>
                  <a:srgbClr val="0A1A2F"/>
                </a:solidFill>
                <a:latin typeface="Anton"/>
              </a:rPr>
              <a:t>DECISIONES.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25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727450"/>
            <a:ext cx="3048000" cy="41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Impacto en la empresa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5600" y="3829050"/>
            <a:ext cx="5384800" cy="203200"/>
          </a:xfrm>
          <a:prstGeom prst="roundRect">
            <a:avLst>
              <a:gd name="adj" fmla="val 25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53600" y="3727450"/>
            <a:ext cx="1524000" cy="41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40200"/>
            <a:ext cx="3048000" cy="41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Retorno sobre inversión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5600" y="4241800"/>
            <a:ext cx="4654550" cy="203200"/>
          </a:xfrm>
          <a:prstGeom prst="roundRect">
            <a:avLst>
              <a:gd name="adj" fmla="val 25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53600" y="4140200"/>
            <a:ext cx="1524000" cy="41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52950"/>
            <a:ext cx="3048000" cy="41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Conocimiento técnico y reto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5600" y="4654550"/>
            <a:ext cx="3721100" cy="203200"/>
          </a:xfrm>
          <a:prstGeom prst="roundRect">
            <a:avLst>
              <a:gd name="adj" fmla="val 25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53600" y="4552950"/>
            <a:ext cx="1524000" cy="41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65700"/>
            <a:ext cx="3048000" cy="41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Facilidad y tiempo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5600" y="5067300"/>
            <a:ext cx="2794000" cy="203200"/>
          </a:xfrm>
          <a:prstGeom prst="roundRect">
            <a:avLst>
              <a:gd name="adj" fmla="val 25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53600" y="4965700"/>
            <a:ext cx="1524000" cy="41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78450"/>
            <a:ext cx="3048000" cy="41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Probabilidad de éxito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5600" y="5480050"/>
            <a:ext cx="1860550" cy="203200"/>
          </a:xfrm>
          <a:prstGeom prst="roundRect">
            <a:avLst>
              <a:gd name="adj" fmla="val 25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53600" y="5378450"/>
            <a:ext cx="1524000" cy="4127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10%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9600" y="406400"/>
            <a:ext cx="9017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Matriz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96075" y="1231899"/>
            <a:ext cx="3057525" cy="1000125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600" y="1327150"/>
            <a:ext cx="11341100" cy="9874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7200" b="0" spc="-50" dirty="0">
                <a:solidFill>
                  <a:srgbClr val="0A1A2F"/>
                </a:solidFill>
                <a:latin typeface="Anton"/>
              </a:rPr>
              <a:t>CINCO CRITERIOS Y SU</a:t>
            </a:r>
            <a:r>
              <a:rPr lang="es-MX" sz="1400" b="0" spc="-50" dirty="0">
                <a:solidFill>
                  <a:srgbClr val="0A1A2F"/>
                </a:solidFill>
                <a:latin typeface="Anton"/>
              </a:rPr>
              <a:t>  </a:t>
            </a:r>
            <a:r>
              <a:rPr sz="7200" b="0" spc="-50" dirty="0">
                <a:solidFill>
                  <a:srgbClr val="0A1A2F"/>
                </a:solidFill>
                <a:latin typeface="Anton"/>
              </a:rPr>
              <a:t>PESO.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3333750"/>
            <a:ext cx="4483100" cy="1511300"/>
          </a:xfrm>
          <a:prstGeom prst="roundRect">
            <a:avLst>
              <a:gd name="adj" fmla="val 9243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3200" tIns="203200" rIns="203200" bIns="203200" rtlCol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JetBrains Mono"/>
              </a:rPr>
              <a:t>Un proyecto por columna. Un criterio por fila. La hoja hace la suma ponderada y devuelve una calificación comparable.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45100" y="5943600"/>
            <a:ext cx="2159000" cy="279400"/>
          </a:xfrm>
          <a:prstGeom prst="roundRect">
            <a:avLst>
              <a:gd name="adj" fmla="val 50000"/>
            </a:avLst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/>
            <a:r>
              <a:rPr sz="1000" b="1" spc="50">
                <a:solidFill>
                  <a:srgbClr val="859AA6"/>
                </a:solidFill>
                <a:latin typeface="Inter"/>
              </a:rPr>
              <a:t>HOJA-DE-DECISION.XLSX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06400"/>
            <a:ext cx="2673350" cy="311150"/>
          </a:xfrm>
          <a:prstGeom prst="roundRect">
            <a:avLst>
              <a:gd name="adj" fmla="val 50000"/>
            </a:avLst>
          </a:prstGeom>
          <a:solidFill>
            <a:srgbClr val="22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En vivo · pantalla compartida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250950"/>
            <a:ext cx="4724400" cy="238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150"/>
              </a:lnSpc>
            </a:pPr>
            <a:r>
              <a:rPr sz="5600" b="0" spc="-50">
                <a:solidFill>
                  <a:srgbClr val="FFFFFF"/>
                </a:solidFill>
                <a:latin typeface="Anton"/>
              </a:rPr>
              <a:t>ASÍ SE VE </a:t>
            </a:r>
            <a:r>
              <a:rPr sz="5600" b="0" spc="-50">
                <a:solidFill>
                  <a:srgbClr val="C6F24E"/>
                </a:solidFill>
                <a:latin typeface="Anton"/>
              </a:rPr>
              <a:t>LA</a:t>
            </a:r>
            <a:br/>
            <a:r>
              <a:rPr sz="5600" b="0" spc="-50">
                <a:solidFill>
                  <a:srgbClr val="C6F24E"/>
                </a:solidFill>
                <a:latin typeface="Anton"/>
              </a:rPr>
              <a:t>HOJA DE</a:t>
            </a:r>
            <a:br/>
            <a:r>
              <a:rPr sz="5600" b="0" spc="-50">
                <a:solidFill>
                  <a:srgbClr val="C6F24E"/>
                </a:solidFill>
                <a:latin typeface="Anton"/>
              </a:rPr>
              <a:t>DECISIÓN</a:t>
            </a:r>
            <a:r>
              <a:rPr sz="5600" b="0" spc="-50">
                <a:solidFill>
                  <a:srgbClr val="FFFFFF"/>
                </a:solidFill>
                <a:latin typeface="Anton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72745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Remarketing de clientes con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5600" y="3854450"/>
            <a:ext cx="5384800" cy="203200"/>
          </a:xfrm>
          <a:prstGeom prst="roundRect">
            <a:avLst>
              <a:gd name="adj" fmla="val 25000"/>
            </a:avLst>
          </a:prstGeom>
          <a:solidFill>
            <a:srgbClr val="006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53600" y="372745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8.4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8465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Prospección de clientes nuevos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5600" y="4311650"/>
            <a:ext cx="5384800" cy="203200"/>
          </a:xfrm>
          <a:prstGeom prst="roundRect">
            <a:avLst>
              <a:gd name="adj" fmla="val 25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53600" y="418465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8.4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4185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Cobranza con 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5600" y="4768850"/>
            <a:ext cx="5321300" cy="203200"/>
          </a:xfrm>
          <a:prstGeom prst="roundRect">
            <a:avLst>
              <a:gd name="adj" fmla="val 25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53600" y="464185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99050"/>
            <a:ext cx="3048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Análisis de pólizas canceladas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5600" y="5226050"/>
            <a:ext cx="5187950" cy="203200"/>
          </a:xfrm>
          <a:prstGeom prst="roundRect">
            <a:avLst>
              <a:gd name="adj" fmla="val 25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53600" y="5099050"/>
            <a:ext cx="15240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600" b="0">
                <a:solidFill>
                  <a:srgbClr val="0A1A2F"/>
                </a:solidFill>
                <a:latin typeface="JetBrains Mono"/>
              </a:rPr>
              <a:t>7.8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09600" y="406400"/>
            <a:ext cx="20764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Resultado ponderado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29750" y="1301750"/>
            <a:ext cx="144145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5300" y="2282825"/>
            <a:ext cx="4046818" cy="89535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9600" y="1302871"/>
            <a:ext cx="1026160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lang="es-MX" sz="7200" b="0" spc="-50" dirty="0">
                <a:solidFill>
                  <a:srgbClr val="0A1A2F"/>
                </a:solidFill>
                <a:latin typeface="Anton"/>
              </a:rPr>
              <a:t>Ejemplo: </a:t>
            </a:r>
            <a:r>
              <a:rPr sz="6000" b="0" spc="-50" dirty="0">
                <a:solidFill>
                  <a:srgbClr val="0A1A2F"/>
                </a:solidFill>
                <a:latin typeface="Anton"/>
              </a:rPr>
              <a:t>CUATRO PROYECTOS, UNA</a:t>
            </a:r>
            <a:br>
              <a:rPr sz="1100" dirty="0"/>
            </a:br>
            <a:r>
              <a:rPr sz="6000" b="0" spc="-50" dirty="0">
                <a:solidFill>
                  <a:srgbClr val="0A1A2F"/>
                </a:solidFill>
                <a:latin typeface="Anton"/>
              </a:rPr>
              <a:t>CALIFICACIÓN.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863B1-576D-497C-B1F0-5BBB2BDDE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.jpg">
            <a:extLst>
              <a:ext uri="{FF2B5EF4-FFF2-40B4-BE49-F238E27FC236}">
                <a16:creationId xmlns:a16="http://schemas.microsoft.com/office/drawing/2014/main" id="{F9F347CE-3F8D-F2BC-560B-7F83423CF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7C55E6-4EE3-6C2D-FBAB-BAD1CA6AA05C}"/>
              </a:ext>
            </a:extLst>
          </p:cNvPr>
          <p:cNvSpPr txBox="1"/>
          <p:nvPr/>
        </p:nvSpPr>
        <p:spPr>
          <a:xfrm>
            <a:off x="685800" y="2942987"/>
            <a:ext cx="9525000" cy="15812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6600" b="1" dirty="0">
                <a:solidFill>
                  <a:srgbClr val="F5F8FB"/>
                </a:solidFill>
                <a:latin typeface="Inter"/>
              </a:rPr>
              <a:t>¿Qué vamos a hacer?</a:t>
            </a:r>
            <a:endParaRPr sz="6600" b="1" dirty="0">
              <a:solidFill>
                <a:srgbClr val="F5F8FB"/>
              </a:solidFill>
              <a:latin typeface="Inter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5AA6C35-1966-5D81-57BB-863B8E3CBF97}"/>
              </a:ext>
            </a:extLst>
          </p:cNvPr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423191-6B0C-3E41-3300-56DC6B669D91}"/>
              </a:ext>
            </a:extLst>
          </p:cNvPr>
          <p:cNvSpPr/>
          <p:nvPr/>
        </p:nvSpPr>
        <p:spPr>
          <a:xfrm>
            <a:off x="609600" y="406400"/>
            <a:ext cx="2101850" cy="311150"/>
          </a:xfrm>
          <a:prstGeom prst="roundRect">
            <a:avLst>
              <a:gd name="adj" fmla="val 50000"/>
            </a:avLst>
          </a:prstGeom>
          <a:solidFill>
            <a:srgbClr val="22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 dirty="0" err="1">
                <a:solidFill>
                  <a:srgbClr val="FFFFFF"/>
                </a:solidFill>
                <a:latin typeface="Inter"/>
              </a:rPr>
              <a:t>Compromiso</a:t>
            </a:r>
            <a:r>
              <a:rPr sz="1200" b="0" dirty="0">
                <a:solidFill>
                  <a:srgbClr val="FFFFFF"/>
                </a:solidFill>
                <a:latin typeface="Inter"/>
              </a:rPr>
              <a:t> </a:t>
            </a:r>
            <a:r>
              <a:rPr lang="es-MX" sz="1200" dirty="0">
                <a:solidFill>
                  <a:srgbClr val="FFFFFF"/>
                </a:solidFill>
                <a:latin typeface="Inter"/>
              </a:rPr>
              <a:t>grupal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95FB7B-8E53-D85C-9BAA-6DD665D4E91D}"/>
              </a:ext>
            </a:extLst>
          </p:cNvPr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40912717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340101"/>
            <a:ext cx="6007100" cy="2063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sz="1800" b="0" dirty="0">
                <a:solidFill>
                  <a:srgbClr val="072835"/>
                </a:solidFill>
                <a:latin typeface="Inter"/>
              </a:rPr>
              <a:t>Los de mayor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impacto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y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mejor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probabilidad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de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implementación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sz="1800" b="0" dirty="0" err="1">
                <a:solidFill>
                  <a:srgbClr val="072835"/>
                </a:solidFill>
                <a:latin typeface="Inter"/>
              </a:rPr>
              <a:t>Que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hoy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puedan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apoyarse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en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IA</a:t>
            </a:r>
          </a:p>
          <a:p>
            <a:pPr algn="l">
              <a:spcAft>
                <a:spcPts val="1200"/>
              </a:spcAft>
            </a:pPr>
            <a:r>
              <a:rPr sz="1800" b="0" dirty="0">
                <a:solidFill>
                  <a:srgbClr val="072835"/>
                </a:solidFill>
                <a:latin typeface="Inter"/>
              </a:rPr>
              <a:t>Los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demás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no se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pierden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: van al backlog del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siguiente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ciclo</a:t>
            </a:r>
            <a:endParaRPr sz="18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6400"/>
            <a:ext cx="29019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Etapa 5 · Alineación empresarial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123950"/>
            <a:ext cx="3681506" cy="92075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1295401"/>
            <a:ext cx="6610350" cy="17047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950"/>
              </a:lnSpc>
            </a:pPr>
            <a:r>
              <a:rPr lang="es-MX" sz="5400" spc="-50" dirty="0">
                <a:solidFill>
                  <a:srgbClr val="0A1A2F"/>
                </a:solidFill>
                <a:latin typeface="Anton"/>
              </a:rPr>
              <a:t>2</a:t>
            </a:r>
            <a:r>
              <a:rPr sz="5400" b="0" spc="-50" dirty="0">
                <a:solidFill>
                  <a:srgbClr val="0A1A2F"/>
                </a:solidFill>
                <a:latin typeface="Anton"/>
              </a:rPr>
              <a:t> PROYECTOS</a:t>
            </a:r>
            <a:br>
              <a:rPr sz="1100" dirty="0"/>
            </a:br>
            <a:r>
              <a:rPr sz="5400" b="0" spc="-50" dirty="0">
                <a:solidFill>
                  <a:srgbClr val="0A1A2F"/>
                </a:solidFill>
                <a:latin typeface="Anton"/>
              </a:rPr>
              <a:t>POR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63600" y="30162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3600" y="3479800"/>
            <a:ext cx="21209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A1A2F"/>
                </a:solidFill>
                <a:latin typeface="Inter"/>
              </a:rPr>
              <a:t>Reúnanse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600" y="382270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400" b="0" dirty="0">
                <a:solidFill>
                  <a:srgbClr val="4E6572"/>
                </a:solidFill>
                <a:latin typeface="Inter"/>
              </a:rPr>
              <a:t>Se van a dividir en salas </a:t>
            </a:r>
            <a:r>
              <a:rPr lang="es-MX" sz="1400" b="0" dirty="0" err="1">
                <a:solidFill>
                  <a:srgbClr val="4E6572"/>
                </a:solidFill>
                <a:latin typeface="Inter"/>
              </a:rPr>
              <a:t>pequeñas</a:t>
            </a:r>
            <a:r>
              <a:rPr lang="es-MX" sz="1400" dirty="0">
                <a:solidFill>
                  <a:srgbClr val="4E6572"/>
                </a:solidFill>
                <a:latin typeface="Inter"/>
              </a:rPr>
              <a:t>, c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on</a:t>
            </a:r>
            <a:r>
              <a:rPr lang="es-MX" sz="1400" b="0" dirty="0">
                <a:solidFill>
                  <a:srgbClr val="4E6572"/>
                </a:solidFill>
                <a:latin typeface="Inter"/>
              </a:rPr>
              <a:t> integrantes de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su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misma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empresa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44900" y="30162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4900" y="3479800"/>
            <a:ext cx="21209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1" dirty="0">
                <a:solidFill>
                  <a:srgbClr val="0A1A2F"/>
                </a:solidFill>
                <a:latin typeface="Inter"/>
              </a:rPr>
              <a:t>USAR LA HOJA DE DECISION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44900" y="4073712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dirty="0" err="1">
                <a:solidFill>
                  <a:srgbClr val="4E6572"/>
                </a:solidFill>
                <a:latin typeface="Inter"/>
              </a:rPr>
              <a:t>cada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proyecto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</a:t>
            </a:r>
            <a:r>
              <a:rPr lang="es-MX" sz="1400" b="0" dirty="0">
                <a:solidFill>
                  <a:srgbClr val="4E6572"/>
                </a:solidFill>
                <a:latin typeface="Inter"/>
              </a:rPr>
              <a:t>Utilizará los criterios de evaluación y calificará cada proyecto </a:t>
            </a:r>
          </a:p>
          <a:p>
            <a:pPr algn="l"/>
            <a:r>
              <a:rPr sz="1400" b="0" dirty="0">
                <a:solidFill>
                  <a:srgbClr val="4E6572"/>
                </a:solidFill>
                <a:latin typeface="Inter"/>
              </a:rPr>
              <a:t>del 1 al 10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por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criterio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26200" y="30162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6200" y="3479800"/>
            <a:ext cx="21209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dirty="0" err="1">
                <a:solidFill>
                  <a:srgbClr val="0A1A2F"/>
                </a:solidFill>
                <a:latin typeface="Inter"/>
              </a:rPr>
              <a:t>Discu</a:t>
            </a:r>
            <a:r>
              <a:rPr lang="es-MX" sz="1600" b="1" dirty="0" err="1">
                <a:solidFill>
                  <a:srgbClr val="0A1A2F"/>
                </a:solidFill>
                <a:latin typeface="Inter"/>
              </a:rPr>
              <a:t>tir</a:t>
            </a:r>
            <a:r>
              <a:rPr lang="es-MX" sz="1600" b="1" dirty="0">
                <a:solidFill>
                  <a:srgbClr val="0A1A2F"/>
                </a:solidFill>
                <a:latin typeface="Inter"/>
              </a:rPr>
              <a:t> con criterio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6200" y="382270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dirty="0">
                <a:solidFill>
                  <a:srgbClr val="4E6572"/>
                </a:solidFill>
                <a:latin typeface="Inter"/>
              </a:rPr>
              <a:t>no es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llenar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celdas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, es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alinear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criterio</a:t>
            </a:r>
            <a:r>
              <a:rPr lang="es-MX" sz="1400" b="0" dirty="0">
                <a:solidFill>
                  <a:srgbClr val="4E6572"/>
                </a:solidFill>
                <a:latin typeface="Inter"/>
              </a:rPr>
              <a:t> entre los líderes de equipo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07500" y="3016250"/>
            <a:ext cx="762000" cy="736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0">
                <a:solidFill>
                  <a:srgbClr val="006E96"/>
                </a:solidFill>
                <a:latin typeface="Anton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7500" y="3479800"/>
            <a:ext cx="2120900" cy="29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MX" sz="1600" b="1" dirty="0">
                <a:solidFill>
                  <a:srgbClr val="0A1A2F"/>
                </a:solidFill>
                <a:latin typeface="Inter"/>
              </a:rPr>
              <a:t>Seleccionar 2 proyectos</a:t>
            </a:r>
            <a:endParaRPr sz="1600" b="1" dirty="0">
              <a:solidFill>
                <a:srgbClr val="0A1A2F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7500" y="3822700"/>
            <a:ext cx="2120900" cy="101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dirty="0">
                <a:solidFill>
                  <a:srgbClr val="4E6572"/>
                </a:solidFill>
                <a:latin typeface="Inter"/>
              </a:rPr>
              <a:t>dos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proyectos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y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quién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los</a:t>
            </a:r>
            <a:r>
              <a:rPr sz="1400" b="0" dirty="0">
                <a:solidFill>
                  <a:srgbClr val="4E6572"/>
                </a:solidFill>
                <a:latin typeface="Inter"/>
              </a:rPr>
              <a:t> </a:t>
            </a:r>
            <a:r>
              <a:rPr sz="1400" b="0" dirty="0" err="1">
                <a:solidFill>
                  <a:srgbClr val="4E6572"/>
                </a:solidFill>
                <a:latin typeface="Inter"/>
              </a:rPr>
              <a:t>presenta</a:t>
            </a:r>
            <a:r>
              <a:rPr lang="es-MX" sz="1400" b="0" dirty="0" err="1">
                <a:solidFill>
                  <a:srgbClr val="4E6572"/>
                </a:solidFill>
                <a:latin typeface="Inter"/>
              </a:rPr>
              <a:t>rá</a:t>
            </a:r>
            <a:endParaRPr sz="1400" b="0" dirty="0">
              <a:solidFill>
                <a:srgbClr val="4E6572"/>
              </a:solidFill>
              <a:latin typeface="Inter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814050" y="1117600"/>
            <a:ext cx="76835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/>
            <a:r>
              <a:rPr sz="1000" b="1" spc="50">
                <a:solidFill>
                  <a:srgbClr val="4E6572"/>
                </a:solidFill>
                <a:latin typeface="Inter"/>
              </a:rPr>
              <a:t>30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9600" y="406400"/>
            <a:ext cx="112395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Dinámica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11900" y="1098550"/>
            <a:ext cx="2305050" cy="679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1752600"/>
            <a:ext cx="3270250" cy="6794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9600" y="1250950"/>
            <a:ext cx="8502650" cy="1733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150"/>
              </a:lnSpc>
            </a:pPr>
            <a:r>
              <a:rPr sz="5600" b="0" spc="-50">
                <a:solidFill>
                  <a:srgbClr val="24340A"/>
                </a:solidFill>
                <a:latin typeface="Anton"/>
              </a:rPr>
              <a:t>SALAS POR EMPRESA: </a:t>
            </a:r>
            <a:r>
              <a:rPr sz="5600" b="0" spc="-50">
                <a:solidFill>
                  <a:srgbClr val="0A1A2F"/>
                </a:solidFill>
                <a:latin typeface="Anton"/>
              </a:rPr>
              <a:t>LA HOJA</a:t>
            </a:r>
            <a:br/>
            <a:r>
              <a:rPr sz="5600" b="0" spc="-50">
                <a:solidFill>
                  <a:srgbClr val="0A1A2F"/>
                </a:solidFill>
                <a:latin typeface="Anton"/>
              </a:rPr>
              <a:t>DE DECISIÓN</a:t>
            </a:r>
            <a:r>
              <a:rPr sz="5600" b="0" spc="-50">
                <a:solidFill>
                  <a:srgbClr val="24340A"/>
                </a:solidFill>
                <a:latin typeface="Anton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833347"/>
            <a:ext cx="6007100" cy="12765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1.- 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No el de mayor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jerarquía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: el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mejor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comunicador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2.- Definan q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ué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problema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resuelve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y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qué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impacto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se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espera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lang="es-MX" sz="1800" b="0" dirty="0">
                <a:solidFill>
                  <a:srgbClr val="072835"/>
                </a:solidFill>
                <a:latin typeface="Inter"/>
              </a:rPr>
              <a:t>3.- 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Por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qué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la IA es la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herramienta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adecuada</a:t>
            </a:r>
            <a:endParaRPr sz="18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6400"/>
            <a:ext cx="24003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Compromiso por empresa</a:t>
            </a:r>
          </a:p>
        </p:txBody>
      </p:sp>
      <p:sp>
        <p:nvSpPr>
          <p:cNvPr id="7" name="Rectangle 6"/>
          <p:cNvSpPr/>
          <p:nvPr/>
        </p:nvSpPr>
        <p:spPr>
          <a:xfrm>
            <a:off x="447488" y="2223061"/>
            <a:ext cx="417195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7156" y="1295961"/>
            <a:ext cx="6610350" cy="185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6600" b="0" spc="-50" dirty="0">
                <a:solidFill>
                  <a:srgbClr val="0A1A2F"/>
                </a:solidFill>
                <a:latin typeface="Anton"/>
              </a:rPr>
              <a:t>ELIJAN UN</a:t>
            </a:r>
            <a:r>
              <a:rPr lang="es-MX" sz="1200" b="0" spc="-50" dirty="0">
                <a:solidFill>
                  <a:srgbClr val="0A1A2F"/>
                </a:solidFill>
                <a:latin typeface="Anton"/>
              </a:rPr>
              <a:t>   </a:t>
            </a:r>
            <a:r>
              <a:rPr sz="6600" b="0" spc="-50" dirty="0">
                <a:solidFill>
                  <a:srgbClr val="0A1A2F"/>
                </a:solidFill>
                <a:latin typeface="Anton"/>
              </a:rPr>
              <a:t>LÍDER QUE</a:t>
            </a:r>
            <a:br>
              <a:rPr sz="1200" dirty="0"/>
            </a:br>
            <a:r>
              <a:rPr sz="6600" b="0" spc="-50" dirty="0">
                <a:solidFill>
                  <a:srgbClr val="0A1A2F"/>
                </a:solidFill>
                <a:latin typeface="Anton"/>
              </a:rPr>
              <a:t>PRESENTE.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727450"/>
            <a:ext cx="16573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A1A2F"/>
                </a:solidFill>
                <a:latin typeface="Inter"/>
              </a:rPr>
              <a:t>Proyecto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74950" y="3727450"/>
            <a:ext cx="85026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mayor impacto y probabilidad; arranca primero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79900"/>
            <a:ext cx="16573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A1A2F"/>
                </a:solidFill>
                <a:latin typeface="Inter"/>
              </a:rPr>
              <a:t>Proyecto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74950" y="4279900"/>
            <a:ext cx="85026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el siguiente; en paralelo o después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32350"/>
            <a:ext cx="16573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A1A2F"/>
                </a:solidFill>
                <a:latin typeface="Inter"/>
              </a:rPr>
              <a:t>Proyecto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4950" y="4832350"/>
            <a:ext cx="85026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opcional, de reserva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84800"/>
            <a:ext cx="16573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A1A2F"/>
                </a:solidFill>
                <a:latin typeface="Inter"/>
              </a:rPr>
              <a:t>Qué necesitan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4950" y="5384800"/>
            <a:ext cx="85026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acceso, datos, aprobación, tiempo o método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9600" y="406400"/>
            <a:ext cx="19431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Cierre de alineación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67600" y="1085850"/>
            <a:ext cx="282575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5300" y="2114550"/>
            <a:ext cx="375285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600" y="1327150"/>
            <a:ext cx="11341100" cy="271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8800" b="0" spc="-50">
                <a:solidFill>
                  <a:srgbClr val="0A1A2F"/>
                </a:solidFill>
                <a:latin typeface="Anton"/>
              </a:rPr>
              <a:t>REGRESAMOS AL SALÓN</a:t>
            </a:r>
            <a:br/>
            <a:r>
              <a:rPr sz="8800" b="0" spc="-50">
                <a:solidFill>
                  <a:srgbClr val="0A1A2F"/>
                </a:solidFill>
                <a:latin typeface="Anton"/>
              </a:rPr>
              <a:t>GENERAL.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2950" y="3528359"/>
            <a:ext cx="6007100" cy="2622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200"/>
              </a:spcAft>
            </a:pPr>
            <a:r>
              <a:rPr sz="1800" b="0" dirty="0" err="1">
                <a:solidFill>
                  <a:srgbClr val="072835"/>
                </a:solidFill>
                <a:latin typeface="Inter"/>
              </a:rPr>
              <a:t>Aprende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a usar Claude: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botón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por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botón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, y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cómo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hablarle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sz="1800" b="0" dirty="0">
                <a:solidFill>
                  <a:srgbClr val="072835"/>
                </a:solidFill>
                <a:latin typeface="Inter"/>
              </a:rPr>
              <a:t>Excel, Word, PowerPoint y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correo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sz="1800" b="0" dirty="0" err="1">
                <a:solidFill>
                  <a:srgbClr val="072835"/>
                </a:solidFill>
                <a:latin typeface="Inter"/>
              </a:rPr>
              <a:t>Tableros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y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reportes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que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se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comparten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con un enlace</a:t>
            </a:r>
          </a:p>
          <a:p>
            <a:pPr algn="l">
              <a:spcAft>
                <a:spcPts val="1200"/>
              </a:spcAft>
            </a:pPr>
            <a:r>
              <a:rPr sz="1800" b="0" dirty="0" err="1">
                <a:solidFill>
                  <a:srgbClr val="072835"/>
                </a:solidFill>
                <a:latin typeface="Inter"/>
              </a:rPr>
              <a:t>Finanzas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,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Operaciones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, Ventas y las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demás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áreas</a:t>
            </a:r>
            <a:endParaRPr sz="1800" b="0" dirty="0">
              <a:solidFill>
                <a:srgbClr val="072835"/>
              </a:solidFill>
              <a:latin typeface="Inter"/>
            </a:endParaRPr>
          </a:p>
          <a:p>
            <a:pPr algn="l">
              <a:spcAft>
                <a:spcPts val="1200"/>
              </a:spcAft>
            </a:pPr>
            <a:r>
              <a:rPr sz="1800" b="0" dirty="0" err="1">
                <a:solidFill>
                  <a:srgbClr val="072835"/>
                </a:solidFill>
                <a:latin typeface="Inter"/>
              </a:rPr>
              <a:t>Alineación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 del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equipo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: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reglas</a:t>
            </a:r>
            <a:r>
              <a:rPr sz="1800" b="0" dirty="0">
                <a:solidFill>
                  <a:srgbClr val="072835"/>
                </a:solidFill>
                <a:latin typeface="Inter"/>
              </a:rPr>
              <a:t>, plan y </a:t>
            </a:r>
            <a:r>
              <a:rPr sz="1800" b="0" dirty="0" err="1">
                <a:solidFill>
                  <a:srgbClr val="072835"/>
                </a:solidFill>
                <a:latin typeface="Inter"/>
              </a:rPr>
              <a:t>hábitos</a:t>
            </a:r>
            <a:endParaRPr sz="1800" b="0" dirty="0">
              <a:solidFill>
                <a:srgbClr val="072835"/>
              </a:solidFill>
              <a:latin typeface="Inter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406400"/>
            <a:ext cx="14097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Lo que viene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797050"/>
            <a:ext cx="5924550" cy="73025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495550"/>
            <a:ext cx="1949450" cy="73025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149350"/>
            <a:ext cx="6610350" cy="2076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5500"/>
              </a:lnSpc>
            </a:pPr>
            <a:r>
              <a:rPr sz="4400" b="0" spc="-50" dirty="0">
                <a:solidFill>
                  <a:srgbClr val="0A1A2F"/>
                </a:solidFill>
                <a:latin typeface="Anton"/>
              </a:rPr>
              <a:t>LOS CINCO MÓDULOS,</a:t>
            </a:r>
            <a:br>
              <a:rPr sz="1200" dirty="0"/>
            </a:br>
            <a:r>
              <a:rPr sz="4400" b="0" spc="-50" dirty="0">
                <a:solidFill>
                  <a:srgbClr val="0A1A2F"/>
                </a:solidFill>
                <a:latin typeface="Anton"/>
              </a:rPr>
              <a:t>CON TU PROYECTO EN</a:t>
            </a:r>
            <a:br>
              <a:rPr sz="1200" dirty="0"/>
            </a:br>
            <a:r>
              <a:rPr sz="4400" b="0" spc="-50" dirty="0">
                <a:solidFill>
                  <a:srgbClr val="0A1A2F"/>
                </a:solidFill>
                <a:latin typeface="Anton"/>
              </a:rPr>
              <a:t>MEDIO.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727450"/>
            <a:ext cx="10985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A1A2F"/>
                </a:solidFill>
                <a:latin typeface="Inter"/>
              </a:rPr>
              <a:t>Cuenta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16150" y="3727450"/>
            <a:ext cx="90614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activa tu cuenta de Claude con las instrucciones que te mandamos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79900"/>
            <a:ext cx="10985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A1A2F"/>
                </a:solidFill>
                <a:latin typeface="Inter"/>
              </a:rPr>
              <a:t>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6150" y="4279900"/>
            <a:ext cx="90614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por escrito: nombre, problema e impacto esperado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32350"/>
            <a:ext cx="10985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>
                <a:solidFill>
                  <a:srgbClr val="0A1A2F"/>
                </a:solidFill>
                <a:latin typeface="Inter"/>
              </a:rPr>
              <a:t>Archivos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16150" y="4832350"/>
            <a:ext cx="906145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>
                <a:solidFill>
                  <a:srgbClr val="072835"/>
                </a:solidFill>
                <a:latin typeface="Inter"/>
              </a:rPr>
              <a:t>los datos, reportes y ejemplos reales de ese proyecto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A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9600" y="406400"/>
            <a:ext cx="1765300" cy="311150"/>
          </a:xfrm>
          <a:prstGeom prst="roundRect">
            <a:avLst>
              <a:gd name="adj" fmla="val 50000"/>
            </a:avLst>
          </a:prstGeom>
          <a:solidFill>
            <a:srgbClr val="DF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006E96"/>
                </a:solidFill>
                <a:latin typeface="Inter"/>
              </a:rPr>
              <a:t>Arranque técnico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81706" y="1085850"/>
            <a:ext cx="441325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95300" y="2114550"/>
            <a:ext cx="4521200" cy="1066800"/>
          </a:xfrm>
          <a:prstGeom prst="rect">
            <a:avLst/>
          </a:prstGeom>
          <a:solidFill>
            <a:srgbClr val="FFB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5200" y="1146362"/>
            <a:ext cx="8633012" cy="271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8050"/>
              </a:lnSpc>
            </a:pPr>
            <a:r>
              <a:rPr sz="6600" b="0" spc="-50" dirty="0">
                <a:solidFill>
                  <a:srgbClr val="0A1A2F"/>
                </a:solidFill>
                <a:latin typeface="Anton"/>
              </a:rPr>
              <a:t>TAREA INICIAL: PREPARAR</a:t>
            </a:r>
            <a:br>
              <a:rPr sz="1200" dirty="0"/>
            </a:br>
            <a:r>
              <a:rPr sz="6600" b="0" spc="-50" dirty="0">
                <a:solidFill>
                  <a:srgbClr val="0A1A2F"/>
                </a:solidFill>
                <a:latin typeface="Anton"/>
              </a:rPr>
              <a:t>LA CUENTA.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194050"/>
            <a:ext cx="7620000" cy="1022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>
                <a:solidFill>
                  <a:srgbClr val="F5F8FB"/>
                </a:solidFill>
                <a:latin typeface="Inter"/>
              </a:rPr>
              <a:t>La diferencia no es la tecnología, ni el presupuesto, ni el tamaño. Es método, criterio, alineación y voluntad de ejecutar. Todo eso empieza hoy.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5156200"/>
            <a:ext cx="355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B489"/>
                </a:solidFill>
                <a:latin typeface="Inter"/>
              </a:rPr>
              <a:t>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410200"/>
            <a:ext cx="35560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F5F8FB"/>
                </a:solidFill>
                <a:latin typeface="Inter"/>
              </a:rPr>
              <a:t>los dos proyectos de tu empresa, con nombre y dueño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8000" y="5156200"/>
            <a:ext cx="355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B489"/>
                </a:solidFill>
                <a:latin typeface="Inter"/>
              </a:rPr>
              <a:t>IMPLEMENTA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8000" y="5410200"/>
            <a:ext cx="35560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F5F8FB"/>
                </a:solidFill>
                <a:latin typeface="Inter"/>
              </a:rPr>
              <a:t>la hoja de decisión llena y guardada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26400" y="5156200"/>
            <a:ext cx="3556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>
                <a:solidFill>
                  <a:srgbClr val="FFB489"/>
                </a:solidFill>
                <a:latin typeface="Inter"/>
              </a:rPr>
              <a:t>APLICA EL LUNES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26400" y="5410200"/>
            <a:ext cx="35560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>
                <a:solidFill>
                  <a:srgbClr val="F5F8FB"/>
                </a:solidFill>
                <a:latin typeface="Inter"/>
              </a:rPr>
              <a:t>cuenta activa y archivos listos antes de la sesión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016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09600" y="406400"/>
            <a:ext cx="1955800" cy="311150"/>
          </a:xfrm>
          <a:prstGeom prst="roundRect">
            <a:avLst>
              <a:gd name="adj" fmla="val 50000"/>
            </a:avLst>
          </a:prstGeom>
          <a:solidFill>
            <a:srgbClr val="223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66700" tIns="0" rIns="152400" bIns="0" rtlCol="0" anchor="ctr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Llamado a la 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95400"/>
            <a:ext cx="11341100" cy="2349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6950"/>
              </a:lnSpc>
            </a:pPr>
            <a:r>
              <a:rPr sz="7600" b="0" spc="-50">
                <a:solidFill>
                  <a:srgbClr val="FFFFFF"/>
                </a:solidFill>
                <a:latin typeface="Anton"/>
              </a:rPr>
              <a:t>DEL 95% QUE IMPROVISA </a:t>
            </a:r>
            <a:r>
              <a:rPr sz="7600" b="0" spc="-50">
                <a:solidFill>
                  <a:srgbClr val="C6F24E"/>
                </a:solidFill>
                <a:latin typeface="Anton"/>
              </a:rPr>
              <a:t>AL</a:t>
            </a:r>
            <a:br/>
            <a:r>
              <a:rPr sz="7600" b="0" spc="-50">
                <a:solidFill>
                  <a:srgbClr val="C6F24E"/>
                </a:solidFill>
                <a:latin typeface="Anton"/>
              </a:rPr>
              <a:t>5% QUE LOGRA RETORNO</a:t>
            </a:r>
            <a:r>
              <a:rPr sz="7600" b="0" spc="-50">
                <a:solidFill>
                  <a:srgbClr val="FFFFFF"/>
                </a:solidFill>
                <a:latin typeface="Anton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79200" y="6362700"/>
            <a:ext cx="508000" cy="2159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r"/>
            <a:r>
              <a:rPr sz="1000" b="0">
                <a:solidFill>
                  <a:srgbClr val="859AA6"/>
                </a:solidFill>
                <a:latin typeface="JetBrains Mono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2769</Words>
  <Application>Microsoft Office PowerPoint</Application>
  <PresentationFormat>Panorámica</PresentationFormat>
  <Paragraphs>378</Paragraphs>
  <Slides>36</Slides>
  <Notes>27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3" baseType="lpstr">
      <vt:lpstr>Anton</vt:lpstr>
      <vt:lpstr>Aptos</vt:lpstr>
      <vt:lpstr>Arial</vt:lpstr>
      <vt:lpstr>Calibri</vt:lpstr>
      <vt:lpstr>Inter</vt:lpstr>
      <vt:lpstr>JetBrains Mono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Roberto Martínez</dc:creator>
  <cp:keywords/>
  <dc:description>generated using python-pptx</dc:description>
  <cp:lastModifiedBy>Alejandro Martinez</cp:lastModifiedBy>
  <cp:revision>2</cp:revision>
  <dcterms:created xsi:type="dcterms:W3CDTF">2013-01-27T09:14:16Z</dcterms:created>
  <dcterms:modified xsi:type="dcterms:W3CDTF">2026-09-21T16:56:25Z</dcterms:modified>
  <cp:category/>
</cp:coreProperties>
</file>